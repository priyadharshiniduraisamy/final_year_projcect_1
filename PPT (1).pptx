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9"/>
  </p:notesMasterIdLst>
  <p:sldIdLst>
    <p:sldId id="276" r:id="rId3"/>
    <p:sldId id="256" r:id="rId4"/>
    <p:sldId id="257" r:id="rId5"/>
    <p:sldId id="258" r:id="rId6"/>
    <p:sldId id="259" r:id="rId7"/>
    <p:sldId id="260" r:id="rId8"/>
    <p:sldId id="261" r:id="rId9"/>
    <p:sldId id="262" r:id="rId10"/>
    <p:sldId id="263" r:id="rId11"/>
    <p:sldId id="277" r:id="rId12"/>
    <p:sldId id="278" r:id="rId13"/>
    <p:sldId id="265" r:id="rId14"/>
    <p:sldId id="266" r:id="rId15"/>
    <p:sldId id="267" r:id="rId16"/>
    <p:sldId id="268" r:id="rId17"/>
    <p:sldId id="279" r:id="rId18"/>
    <p:sldId id="269" r:id="rId19"/>
    <p:sldId id="270" r:id="rId20"/>
    <p:sldId id="280" r:id="rId21"/>
    <p:sldId id="281" r:id="rId22"/>
    <p:sldId id="282" r:id="rId23"/>
    <p:sldId id="283" r:id="rId24"/>
    <p:sldId id="271" r:id="rId25"/>
    <p:sldId id="272" r:id="rId26"/>
    <p:sldId id="273" r:id="rId27"/>
    <p:sldId id="275"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oC0JltUvp00QWpxyV5VaCW4R5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60E524-4960-47BC-BFD3-265457FAA043}">
  <a:tblStyle styleId="{2C60E524-4960-47BC-BFD3-265457FAA04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mitha Dency" userId="a6e849309b7cd6cd" providerId="LiveId" clId="{331BF035-96AA-4277-98C6-E84B8293F2FC}"/>
    <pc:docChg chg="undo custSel modSld">
      <pc:chgData name="Almitha Dency" userId="a6e849309b7cd6cd" providerId="LiveId" clId="{331BF035-96AA-4277-98C6-E84B8293F2FC}" dt="2025-01-06T12:46:14.432" v="355" actId="20577"/>
      <pc:docMkLst>
        <pc:docMk/>
      </pc:docMkLst>
      <pc:sldChg chg="modSp mod">
        <pc:chgData name="Almitha Dency" userId="a6e849309b7cd6cd" providerId="LiveId" clId="{331BF035-96AA-4277-98C6-E84B8293F2FC}" dt="2025-01-06T12:46:14.432" v="355" actId="20577"/>
        <pc:sldMkLst>
          <pc:docMk/>
          <pc:sldMk cId="0" sldId="256"/>
        </pc:sldMkLst>
        <pc:spChg chg="mod">
          <ac:chgData name="Almitha Dency" userId="a6e849309b7cd6cd" providerId="LiveId" clId="{331BF035-96AA-4277-98C6-E84B8293F2FC}" dt="2025-01-06T12:46:14.432" v="355" actId="20577"/>
          <ac:spMkLst>
            <pc:docMk/>
            <pc:sldMk cId="0" sldId="256"/>
            <ac:spMk id="160" creationId="{00000000-0000-0000-0000-000000000000}"/>
          </ac:spMkLst>
        </pc:spChg>
      </pc:sldChg>
    </pc:docChg>
  </pc:docChgLst>
  <pc:docChgLst>
    <pc:chgData name="Almitha Dency" userId="a6e849309b7cd6cd" providerId="LiveId" clId="{EE4E8BCD-2613-4D44-8384-51DB06AA7BB6}"/>
    <pc:docChg chg="undo custSel modSld">
      <pc:chgData name="Almitha Dency" userId="a6e849309b7cd6cd" providerId="LiveId" clId="{EE4E8BCD-2613-4D44-8384-51DB06AA7BB6}" dt="2025-04-04T05:53:07.596" v="5" actId="1036"/>
      <pc:docMkLst>
        <pc:docMk/>
      </pc:docMkLst>
      <pc:sldChg chg="modSp mod">
        <pc:chgData name="Almitha Dency" userId="a6e849309b7cd6cd" providerId="LiveId" clId="{EE4E8BCD-2613-4D44-8384-51DB06AA7BB6}" dt="2025-04-04T05:06:58.143" v="1" actId="1076"/>
        <pc:sldMkLst>
          <pc:docMk/>
          <pc:sldMk cId="0" sldId="261"/>
        </pc:sldMkLst>
        <pc:spChg chg="mod">
          <ac:chgData name="Almitha Dency" userId="a6e849309b7cd6cd" providerId="LiveId" clId="{EE4E8BCD-2613-4D44-8384-51DB06AA7BB6}" dt="2025-04-04T05:06:58.143" v="1" actId="1076"/>
          <ac:spMkLst>
            <pc:docMk/>
            <pc:sldMk cId="0" sldId="261"/>
            <ac:spMk id="194" creationId="{00000000-0000-0000-0000-000000000000}"/>
          </ac:spMkLst>
        </pc:spChg>
      </pc:sldChg>
      <pc:sldChg chg="modSp mod">
        <pc:chgData name="Almitha Dency" userId="a6e849309b7cd6cd" providerId="LiveId" clId="{EE4E8BCD-2613-4D44-8384-51DB06AA7BB6}" dt="2025-04-04T05:41:50.237" v="4" actId="1038"/>
        <pc:sldMkLst>
          <pc:docMk/>
          <pc:sldMk cId="0" sldId="266"/>
        </pc:sldMkLst>
        <pc:grpChg chg="mod">
          <ac:chgData name="Almitha Dency" userId="a6e849309b7cd6cd" providerId="LiveId" clId="{EE4E8BCD-2613-4D44-8384-51DB06AA7BB6}" dt="2025-04-04T05:41:50.237" v="4" actId="1038"/>
          <ac:grpSpMkLst>
            <pc:docMk/>
            <pc:sldMk cId="0" sldId="266"/>
            <ac:grpSpMk id="14" creationId="{9FC2B3FC-BECE-AA16-57DD-C5E963CDB6C4}"/>
          </ac:grpSpMkLst>
        </pc:grpChg>
      </pc:sldChg>
      <pc:sldChg chg="modSp mod">
        <pc:chgData name="Almitha Dency" userId="a6e849309b7cd6cd" providerId="LiveId" clId="{EE4E8BCD-2613-4D44-8384-51DB06AA7BB6}" dt="2025-04-04T05:53:07.596" v="5" actId="1036"/>
        <pc:sldMkLst>
          <pc:docMk/>
          <pc:sldMk cId="0" sldId="270"/>
        </pc:sldMkLst>
        <pc:picChg chg="mod">
          <ac:chgData name="Almitha Dency" userId="a6e849309b7cd6cd" providerId="LiveId" clId="{EE4E8BCD-2613-4D44-8384-51DB06AA7BB6}" dt="2025-04-04T05:53:07.596" v="5" actId="1036"/>
          <ac:picMkLst>
            <pc:docMk/>
            <pc:sldMk cId="0" sldId="270"/>
            <ac:picMk id="5" creationId="{C3879548-C9CF-E104-CE93-48B0FF149F0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83A23244-686C-BBB4-F4F3-F5E85661B620}"/>
            </a:ext>
          </a:extLst>
        </p:cNvPr>
        <p:cNvGrpSpPr/>
        <p:nvPr/>
      </p:nvGrpSpPr>
      <p:grpSpPr>
        <a:xfrm>
          <a:off x="0" y="0"/>
          <a:ext cx="0" cy="0"/>
          <a:chOff x="0" y="0"/>
          <a:chExt cx="0" cy="0"/>
        </a:xfrm>
      </p:grpSpPr>
      <p:sp>
        <p:nvSpPr>
          <p:cNvPr id="205" name="Google Shape;205;p8:notes">
            <a:extLst>
              <a:ext uri="{FF2B5EF4-FFF2-40B4-BE49-F238E27FC236}">
                <a16:creationId xmlns:a16="http://schemas.microsoft.com/office/drawing/2014/main" id="{7DB3F6EB-E412-5D7C-FA71-0374256C5E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8:notes">
            <a:extLst>
              <a:ext uri="{FF2B5EF4-FFF2-40B4-BE49-F238E27FC236}">
                <a16:creationId xmlns:a16="http://schemas.microsoft.com/office/drawing/2014/main" id="{6A6D8073-B74D-A51A-5F8C-736EB08935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2320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5F7A5087-943D-9D03-5A45-D7426ECA30C7}"/>
            </a:ext>
          </a:extLst>
        </p:cNvPr>
        <p:cNvGrpSpPr/>
        <p:nvPr/>
      </p:nvGrpSpPr>
      <p:grpSpPr>
        <a:xfrm>
          <a:off x="0" y="0"/>
          <a:ext cx="0" cy="0"/>
          <a:chOff x="0" y="0"/>
          <a:chExt cx="0" cy="0"/>
        </a:xfrm>
      </p:grpSpPr>
      <p:sp>
        <p:nvSpPr>
          <p:cNvPr id="205" name="Google Shape;205;p8:notes">
            <a:extLst>
              <a:ext uri="{FF2B5EF4-FFF2-40B4-BE49-F238E27FC236}">
                <a16:creationId xmlns:a16="http://schemas.microsoft.com/office/drawing/2014/main" id="{68164D02-E6B8-C0BA-5463-41BCB5E2BB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8:notes">
            <a:extLst>
              <a:ext uri="{FF2B5EF4-FFF2-40B4-BE49-F238E27FC236}">
                <a16:creationId xmlns:a16="http://schemas.microsoft.com/office/drawing/2014/main" id="{7D69A50C-ABBB-F02C-6226-E1BEBE330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0376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FD2E038F-20F2-0043-3C61-5D9BEEF637C8}"/>
            </a:ext>
          </a:extLst>
        </p:cNvPr>
        <p:cNvGrpSpPr/>
        <p:nvPr/>
      </p:nvGrpSpPr>
      <p:grpSpPr>
        <a:xfrm>
          <a:off x="0" y="0"/>
          <a:ext cx="0" cy="0"/>
          <a:chOff x="0" y="0"/>
          <a:chExt cx="0" cy="0"/>
        </a:xfrm>
      </p:grpSpPr>
      <p:sp>
        <p:nvSpPr>
          <p:cNvPr id="239" name="Google Shape;239;p13:notes">
            <a:extLst>
              <a:ext uri="{FF2B5EF4-FFF2-40B4-BE49-F238E27FC236}">
                <a16:creationId xmlns:a16="http://schemas.microsoft.com/office/drawing/2014/main" id="{875B1DC8-FC07-4E52-EC09-6B98F52EB8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3:notes">
            <a:extLst>
              <a:ext uri="{FF2B5EF4-FFF2-40B4-BE49-F238E27FC236}">
                <a16:creationId xmlns:a16="http://schemas.microsoft.com/office/drawing/2014/main" id="{FBAC3438-C725-1DA5-15D6-2A889CFFB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101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19574809-BCCF-BB95-9CFB-A27F81E427D5}"/>
            </a:ext>
          </a:extLst>
        </p:cNvPr>
        <p:cNvGrpSpPr/>
        <p:nvPr/>
      </p:nvGrpSpPr>
      <p:grpSpPr>
        <a:xfrm>
          <a:off x="0" y="0"/>
          <a:ext cx="0" cy="0"/>
          <a:chOff x="0" y="0"/>
          <a:chExt cx="0" cy="0"/>
        </a:xfrm>
      </p:grpSpPr>
      <p:sp>
        <p:nvSpPr>
          <p:cNvPr id="253" name="Google Shape;253;p15:notes">
            <a:extLst>
              <a:ext uri="{FF2B5EF4-FFF2-40B4-BE49-F238E27FC236}">
                <a16:creationId xmlns:a16="http://schemas.microsoft.com/office/drawing/2014/main" id="{7F4B718C-D8BC-D972-C964-BC29D9E55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a:extLst>
              <a:ext uri="{FF2B5EF4-FFF2-40B4-BE49-F238E27FC236}">
                <a16:creationId xmlns:a16="http://schemas.microsoft.com/office/drawing/2014/main" id="{C8B46C30-5BD5-52C7-216C-9C00701276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953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D6F6D54E-E249-1AFF-91F4-4AFA3153CF52}"/>
            </a:ext>
          </a:extLst>
        </p:cNvPr>
        <p:cNvGrpSpPr/>
        <p:nvPr/>
      </p:nvGrpSpPr>
      <p:grpSpPr>
        <a:xfrm>
          <a:off x="0" y="0"/>
          <a:ext cx="0" cy="0"/>
          <a:chOff x="0" y="0"/>
          <a:chExt cx="0" cy="0"/>
        </a:xfrm>
      </p:grpSpPr>
      <p:sp>
        <p:nvSpPr>
          <p:cNvPr id="253" name="Google Shape;253;p15:notes">
            <a:extLst>
              <a:ext uri="{FF2B5EF4-FFF2-40B4-BE49-F238E27FC236}">
                <a16:creationId xmlns:a16="http://schemas.microsoft.com/office/drawing/2014/main" id="{4BA84BC8-6780-8550-21F0-EAC8160B67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a:extLst>
              <a:ext uri="{FF2B5EF4-FFF2-40B4-BE49-F238E27FC236}">
                <a16:creationId xmlns:a16="http://schemas.microsoft.com/office/drawing/2014/main" id="{C492DC3E-E616-EE12-5A8A-1A43391FE2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1035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8ECA62B9-CD1A-F7BD-915D-0601DA387F0E}"/>
            </a:ext>
          </a:extLst>
        </p:cNvPr>
        <p:cNvGrpSpPr/>
        <p:nvPr/>
      </p:nvGrpSpPr>
      <p:grpSpPr>
        <a:xfrm>
          <a:off x="0" y="0"/>
          <a:ext cx="0" cy="0"/>
          <a:chOff x="0" y="0"/>
          <a:chExt cx="0" cy="0"/>
        </a:xfrm>
      </p:grpSpPr>
      <p:sp>
        <p:nvSpPr>
          <p:cNvPr id="253" name="Google Shape;253;p15:notes">
            <a:extLst>
              <a:ext uri="{FF2B5EF4-FFF2-40B4-BE49-F238E27FC236}">
                <a16:creationId xmlns:a16="http://schemas.microsoft.com/office/drawing/2014/main" id="{0576779A-580C-D471-E540-BE21608A79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a:extLst>
              <a:ext uri="{FF2B5EF4-FFF2-40B4-BE49-F238E27FC236}">
                <a16:creationId xmlns:a16="http://schemas.microsoft.com/office/drawing/2014/main" id="{E9AE09BB-FC2A-AA6C-82D8-B53E08267D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37060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03982300-A230-294E-CC87-C6E7D081203A}"/>
            </a:ext>
          </a:extLst>
        </p:cNvPr>
        <p:cNvGrpSpPr/>
        <p:nvPr/>
      </p:nvGrpSpPr>
      <p:grpSpPr>
        <a:xfrm>
          <a:off x="0" y="0"/>
          <a:ext cx="0" cy="0"/>
          <a:chOff x="0" y="0"/>
          <a:chExt cx="0" cy="0"/>
        </a:xfrm>
      </p:grpSpPr>
      <p:sp>
        <p:nvSpPr>
          <p:cNvPr id="253" name="Google Shape;253;p15:notes">
            <a:extLst>
              <a:ext uri="{FF2B5EF4-FFF2-40B4-BE49-F238E27FC236}">
                <a16:creationId xmlns:a16="http://schemas.microsoft.com/office/drawing/2014/main" id="{DEC81DDB-6686-5307-FA48-0ECEB67D2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a:extLst>
              <a:ext uri="{FF2B5EF4-FFF2-40B4-BE49-F238E27FC236}">
                <a16:creationId xmlns:a16="http://schemas.microsoft.com/office/drawing/2014/main" id="{AE4F35AD-E421-8867-4C19-37F75C03C4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929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5183188" y="987425"/>
            <a:ext cx="6172200" cy="4873625"/>
          </a:xfrm>
          <a:prstGeom prst="rect">
            <a:avLst/>
          </a:prstGeom>
          <a:noFill/>
          <a:ln>
            <a:noFill/>
          </a:ln>
        </p:spPr>
      </p:sp>
      <p:sp>
        <p:nvSpPr>
          <p:cNvPr id="64" name="Google Shape;64;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6"/>
        <p:cNvGrpSpPr/>
        <p:nvPr/>
      </p:nvGrpSpPr>
      <p:grpSpPr>
        <a:xfrm>
          <a:off x="0" y="0"/>
          <a:ext cx="0" cy="0"/>
          <a:chOff x="0" y="0"/>
          <a:chExt cx="0" cy="0"/>
        </a:xfrm>
      </p:grpSpPr>
      <p:sp>
        <p:nvSpPr>
          <p:cNvPr id="87" name="Google Shape;8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2"/>
        <p:cNvGrpSpPr/>
        <p:nvPr/>
      </p:nvGrpSpPr>
      <p:grpSpPr>
        <a:xfrm>
          <a:off x="0" y="0"/>
          <a:ext cx="0" cy="0"/>
          <a:chOff x="0" y="0"/>
          <a:chExt cx="0" cy="0"/>
        </a:xfrm>
      </p:grpSpPr>
      <p:sp>
        <p:nvSpPr>
          <p:cNvPr id="93" name="Google Shape;93;p3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3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5" name="Google Shape;9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8"/>
        <p:cNvGrpSpPr/>
        <p:nvPr/>
      </p:nvGrpSpPr>
      <p:grpSpPr>
        <a:xfrm>
          <a:off x="0" y="0"/>
          <a:ext cx="0" cy="0"/>
          <a:chOff x="0" y="0"/>
          <a:chExt cx="0" cy="0"/>
        </a:xfrm>
      </p:grpSpPr>
      <p:sp>
        <p:nvSpPr>
          <p:cNvPr id="99" name="Google Shape;99;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1" name="Google Shape;10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3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1"/>
        <p:cNvGrpSpPr/>
        <p:nvPr/>
      </p:nvGrpSpPr>
      <p:grpSpPr>
        <a:xfrm>
          <a:off x="0" y="0"/>
          <a:ext cx="0" cy="0"/>
          <a:chOff x="0" y="0"/>
          <a:chExt cx="0" cy="0"/>
        </a:xfrm>
      </p:grpSpPr>
      <p:sp>
        <p:nvSpPr>
          <p:cNvPr id="112" name="Google Shape;112;p3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3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4" name="Google Shape;114;p3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6" name="Google Shape;116;p3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0"/>
        <p:cNvGrpSpPr/>
        <p:nvPr/>
      </p:nvGrpSpPr>
      <p:grpSpPr>
        <a:xfrm>
          <a:off x="0" y="0"/>
          <a:ext cx="0" cy="0"/>
          <a:chOff x="0" y="0"/>
          <a:chExt cx="0" cy="0"/>
        </a:xfrm>
      </p:grpSpPr>
      <p:sp>
        <p:nvSpPr>
          <p:cNvPr id="121" name="Google Shape;121;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5"/>
        <p:cNvGrpSpPr/>
        <p:nvPr/>
      </p:nvGrpSpPr>
      <p:grpSpPr>
        <a:xfrm>
          <a:off x="0" y="0"/>
          <a:ext cx="0" cy="0"/>
          <a:chOff x="0" y="0"/>
          <a:chExt cx="0" cy="0"/>
        </a:xfrm>
      </p:grpSpPr>
      <p:sp>
        <p:nvSpPr>
          <p:cNvPr id="126" name="Google Shape;126;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2" name="Google Shape;132;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3" name="Google Shape;133;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42"/>
          <p:cNvSpPr>
            <a:spLocks noGrp="1"/>
          </p:cNvSpPr>
          <p:nvPr>
            <p:ph type="pic" idx="2"/>
          </p:nvPr>
        </p:nvSpPr>
        <p:spPr>
          <a:xfrm>
            <a:off x="5183188" y="987425"/>
            <a:ext cx="6172200" cy="4873625"/>
          </a:xfrm>
          <a:prstGeom prst="rect">
            <a:avLst/>
          </a:prstGeom>
          <a:noFill/>
          <a:ln>
            <a:noFill/>
          </a:ln>
        </p:spPr>
      </p:sp>
      <p:sp>
        <p:nvSpPr>
          <p:cNvPr id="139" name="Google Shape;139;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0" name="Google Shape;140;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4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p4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4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F629C343-8A02-57A7-EF9C-9D70BEED55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62" y="219075"/>
            <a:ext cx="9286875" cy="11239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7D404F-D3E8-9805-CF15-14C175488A89}"/>
              </a:ext>
            </a:extLst>
          </p:cNvPr>
          <p:cNvSpPr txBox="1"/>
          <p:nvPr/>
        </p:nvSpPr>
        <p:spPr>
          <a:xfrm>
            <a:off x="2867025" y="1713012"/>
            <a:ext cx="6096000" cy="584775"/>
          </a:xfrm>
          <a:prstGeom prst="rect">
            <a:avLst/>
          </a:prstGeom>
          <a:noFill/>
        </p:spPr>
        <p:txBody>
          <a:bodyPr wrap="square">
            <a:spAutoFit/>
          </a:bodyPr>
          <a:lstStyle/>
          <a:p>
            <a:pPr algn="ctr"/>
            <a:r>
              <a:rPr lang="en-IN" sz="3200" b="1" i="0" u="none" strike="noStrike" dirty="0">
                <a:solidFill>
                  <a:srgbClr val="FF0000"/>
                </a:solidFill>
                <a:effectLst/>
                <a:latin typeface="Calibri" panose="020F0502020204030204" pitchFamily="34" charset="0"/>
              </a:rPr>
              <a:t>21IT801 </a:t>
            </a:r>
            <a:r>
              <a:rPr lang="en-IN" sz="3200" b="1" dirty="0">
                <a:solidFill>
                  <a:srgbClr val="FF0000"/>
                </a:solidFill>
                <a:latin typeface="Calibri" panose="020F0502020204030204" pitchFamily="34" charset="0"/>
              </a:rPr>
              <a:t>-</a:t>
            </a:r>
            <a:r>
              <a:rPr lang="en-IN" sz="3200" b="1" i="0" u="none" strike="noStrike" dirty="0">
                <a:solidFill>
                  <a:srgbClr val="FF0000"/>
                </a:solidFill>
                <a:effectLst/>
                <a:latin typeface="Calibri" panose="020F0502020204030204" pitchFamily="34" charset="0"/>
              </a:rPr>
              <a:t> Project</a:t>
            </a:r>
            <a:endParaRPr lang="en-IN" sz="3200" dirty="0"/>
          </a:p>
        </p:txBody>
      </p:sp>
      <p:sp>
        <p:nvSpPr>
          <p:cNvPr id="3" name="TextBox 2">
            <a:extLst>
              <a:ext uri="{FF2B5EF4-FFF2-40B4-BE49-F238E27FC236}">
                <a16:creationId xmlns:a16="http://schemas.microsoft.com/office/drawing/2014/main" id="{7051F01B-7C54-D59B-6363-A0595575F957}"/>
              </a:ext>
            </a:extLst>
          </p:cNvPr>
          <p:cNvSpPr txBox="1"/>
          <p:nvPr/>
        </p:nvSpPr>
        <p:spPr>
          <a:xfrm>
            <a:off x="733425" y="2851501"/>
            <a:ext cx="10363200" cy="1339662"/>
          </a:xfrm>
          <a:prstGeom prst="rect">
            <a:avLst/>
          </a:prstGeom>
          <a:noFill/>
        </p:spPr>
        <p:txBody>
          <a:bodyPr wrap="square">
            <a:spAutoFit/>
          </a:bodyPr>
          <a:lstStyle/>
          <a:p>
            <a:pPr algn="ctr">
              <a:lnSpc>
                <a:spcPct val="115000"/>
              </a:lnSpc>
              <a:spcAft>
                <a:spcPts val="1000"/>
              </a:spcAft>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ENHANCED BRAIN TUMOR SEGMENTATION USING CONDITIONAL RANDOM FIELDS AND BAT ALGORITHM OPTIMIZATION IN MULTIMODAL MRI</a:t>
            </a:r>
            <a:endPar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81F7688-6C70-7324-B081-68D8D170A393}"/>
              </a:ext>
            </a:extLst>
          </p:cNvPr>
          <p:cNvSpPr txBox="1"/>
          <p:nvPr/>
        </p:nvSpPr>
        <p:spPr>
          <a:xfrm>
            <a:off x="3569153" y="4899420"/>
            <a:ext cx="9034463" cy="800219"/>
          </a:xfrm>
          <a:prstGeom prst="rect">
            <a:avLst/>
          </a:prstGeom>
          <a:noFill/>
        </p:spPr>
        <p:txBody>
          <a:bodyPr wrap="square">
            <a:spAutoFit/>
          </a:bodyPr>
          <a:lstStyle/>
          <a:p>
            <a:pPr rtl="0"/>
            <a:r>
              <a:rPr lang="en-IN" sz="3200" b="1" dirty="0">
                <a:solidFill>
                  <a:srgbClr val="FF0000"/>
                </a:solidFill>
                <a:latin typeface="Calibri" panose="020F0502020204030204" pitchFamily="34" charset="0"/>
              </a:rPr>
              <a:t>Domain</a:t>
            </a:r>
            <a:r>
              <a:rPr lang="en-IN" sz="1800" b="1" i="0" u="none" strike="noStrike" dirty="0">
                <a:solidFill>
                  <a:srgbClr val="FF0000"/>
                </a:solidFill>
                <a:effectLst/>
                <a:latin typeface="Calibri" panose="020F0502020204030204" pitchFamily="34" charset="0"/>
              </a:rPr>
              <a:t> :</a:t>
            </a:r>
            <a:r>
              <a:rPr lang="en-IN" sz="3200" b="1" i="0" u="none" strike="noStrike" dirty="0">
                <a:solidFill>
                  <a:srgbClr val="FF0000"/>
                </a:solidFill>
                <a:effectLst/>
                <a:latin typeface="Calibri" panose="020F0502020204030204" pitchFamily="34" charset="0"/>
              </a:rPr>
              <a:t> Machine Learning</a:t>
            </a:r>
            <a:r>
              <a:rPr lang="en-IN" sz="1800" b="1" i="0" u="none" strike="noStrike" dirty="0">
                <a:solidFill>
                  <a:srgbClr val="FF0000"/>
                </a:solidFill>
                <a:effectLst/>
                <a:latin typeface="Calibri" panose="020F0502020204030204" pitchFamily="34" charset="0"/>
              </a:rPr>
              <a:t> </a:t>
            </a:r>
            <a:br>
              <a:rPr lang="en-IN" dirty="0"/>
            </a:br>
            <a:r>
              <a:rPr lang="en-IN" b="0" dirty="0">
                <a:effectLst/>
              </a:rPr>
              <a:t> </a:t>
            </a:r>
            <a:endParaRPr lang="en-IN" dirty="0"/>
          </a:p>
        </p:txBody>
      </p:sp>
    </p:spTree>
    <p:extLst>
      <p:ext uri="{BB962C8B-B14F-4D97-AF65-F5344CB8AC3E}">
        <p14:creationId xmlns:p14="http://schemas.microsoft.com/office/powerpoint/2010/main" val="937529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
          <p:cNvSpPr txBox="1">
            <a:spLocks noGrp="1"/>
          </p:cNvSpPr>
          <p:nvPr>
            <p:ph type="title"/>
          </p:nvPr>
        </p:nvSpPr>
        <p:spPr>
          <a:xfrm>
            <a:off x="838200" y="365125"/>
            <a:ext cx="10515600" cy="1677035"/>
          </a:xfrm>
          <a:prstGeom prst="rect">
            <a:avLst/>
          </a:prstGeom>
          <a:noFill/>
          <a:ln>
            <a:noFill/>
          </a:ln>
        </p:spPr>
        <p:txBody>
          <a:bodyPr spcFirstLastPara="1" wrap="square" lIns="91425" tIns="45700" rIns="91425" bIns="45700" anchor="ctr" anchorCtr="0">
            <a:noAutofit/>
          </a:bodyPr>
          <a:lstStyle/>
          <a:p>
            <a:pPr algn="ctr">
              <a:lnSpc>
                <a:spcPct val="115000"/>
              </a:lnSpc>
              <a:spcAft>
                <a:spcPts val="1000"/>
              </a:spcAft>
            </a:pPr>
            <a:r>
              <a:rPr lang="en-US" sz="24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ENHANCED BRAIN TUMOR SEGMENTATION USING CONDITIONAL RANDOM FIELDS AND BAT ALGORITHM OPTIMIZATION IN MULTIMODAL MRI</a:t>
            </a:r>
            <a:endParaRPr lang="en-IN" sz="2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0" name="Google Shape;160;p1"/>
          <p:cNvSpPr txBox="1">
            <a:spLocks noGrp="1"/>
          </p:cNvSpPr>
          <p:nvPr>
            <p:ph type="body" idx="1"/>
          </p:nvPr>
        </p:nvSpPr>
        <p:spPr>
          <a:xfrm>
            <a:off x="838200" y="2005012"/>
            <a:ext cx="10515600" cy="4852988"/>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ct val="100000"/>
              <a:buNone/>
            </a:pPr>
            <a:r>
              <a:rPr lang="en-US" b="1" dirty="0">
                <a:latin typeface="Times New Roman"/>
                <a:ea typeface="Times New Roman"/>
                <a:cs typeface="Times New Roman"/>
                <a:sym typeface="Times New Roman"/>
              </a:rPr>
              <a:t>TEAM MEMBERS</a:t>
            </a:r>
            <a:endParaRPr lang="en-IN" dirty="0"/>
          </a:p>
          <a:p>
            <a:pPr marL="0" lvl="0" indent="0" rtl="0">
              <a:lnSpc>
                <a:spcPct val="90000"/>
              </a:lnSpc>
              <a:spcBef>
                <a:spcPts val="1000"/>
              </a:spcBef>
              <a:spcAft>
                <a:spcPts val="0"/>
              </a:spcAft>
              <a:buClr>
                <a:schemeClr val="dk1"/>
              </a:buClr>
              <a:buSzPct val="100000"/>
              <a:buNone/>
            </a:pPr>
            <a:endParaRPr lang="en-IN" dirty="0">
              <a:latin typeface="Times New Roman"/>
              <a:ea typeface="Times New Roman"/>
              <a:cs typeface="Times New Roman"/>
              <a:sym typeface="Times New Roman"/>
            </a:endParaRPr>
          </a:p>
          <a:p>
            <a:pPr marL="0" lvl="0" indent="0" rtl="0">
              <a:lnSpc>
                <a:spcPct val="90000"/>
              </a:lnSpc>
              <a:spcBef>
                <a:spcPts val="1000"/>
              </a:spcBef>
              <a:spcAft>
                <a:spcPts val="0"/>
              </a:spcAft>
              <a:buClr>
                <a:schemeClr val="dk1"/>
              </a:buClr>
              <a:buSzPct val="100000"/>
              <a:buNone/>
            </a:pPr>
            <a:r>
              <a:rPr lang="en-IN" dirty="0">
                <a:latin typeface="Times New Roman"/>
                <a:ea typeface="Times New Roman"/>
                <a:cs typeface="Times New Roman"/>
                <a:sym typeface="Times New Roman"/>
              </a:rPr>
              <a:t>                               Almitha Dency J   727721EUIT009</a:t>
            </a:r>
          </a:p>
          <a:p>
            <a:pPr marL="0" lvl="0" indent="0" rtl="0">
              <a:lnSpc>
                <a:spcPct val="90000"/>
              </a:lnSpc>
              <a:spcBef>
                <a:spcPts val="1000"/>
              </a:spcBef>
              <a:spcAft>
                <a:spcPts val="0"/>
              </a:spcAft>
              <a:buClr>
                <a:schemeClr val="dk1"/>
              </a:buClr>
              <a:buSzPct val="100000"/>
              <a:buNone/>
            </a:pPr>
            <a:r>
              <a:rPr lang="en-IN" dirty="0">
                <a:latin typeface="Times New Roman"/>
                <a:ea typeface="Times New Roman"/>
                <a:cs typeface="Times New Roman"/>
                <a:sym typeface="Times New Roman"/>
              </a:rPr>
              <a:t>			</a:t>
            </a:r>
            <a:r>
              <a:rPr lang="en-IN" dirty="0" err="1">
                <a:latin typeface="Times New Roman"/>
                <a:ea typeface="Times New Roman"/>
                <a:cs typeface="Times New Roman"/>
                <a:sym typeface="Times New Roman"/>
              </a:rPr>
              <a:t>Atchaya</a:t>
            </a:r>
            <a:r>
              <a:rPr lang="en-IN" dirty="0">
                <a:latin typeface="Times New Roman"/>
                <a:ea typeface="Times New Roman"/>
                <a:cs typeface="Times New Roman"/>
                <a:sym typeface="Times New Roman"/>
              </a:rPr>
              <a:t> P              727721EUIT017</a:t>
            </a:r>
          </a:p>
          <a:p>
            <a:pPr marL="0" lvl="0" indent="0" rtl="0">
              <a:lnSpc>
                <a:spcPct val="90000"/>
              </a:lnSpc>
              <a:spcBef>
                <a:spcPts val="1000"/>
              </a:spcBef>
              <a:spcAft>
                <a:spcPts val="0"/>
              </a:spcAft>
              <a:buClr>
                <a:schemeClr val="dk1"/>
              </a:buClr>
              <a:buSzPct val="100000"/>
              <a:buNone/>
            </a:pPr>
            <a:r>
              <a:rPr lang="en-IN" dirty="0">
                <a:latin typeface="Times New Roman"/>
                <a:ea typeface="Times New Roman"/>
                <a:cs typeface="Times New Roman"/>
                <a:sym typeface="Times New Roman"/>
              </a:rPr>
              <a:t>			</a:t>
            </a:r>
            <a:r>
              <a:rPr lang="en-IN" dirty="0" err="1">
                <a:latin typeface="Times New Roman"/>
                <a:ea typeface="Times New Roman"/>
                <a:cs typeface="Times New Roman"/>
                <a:sym typeface="Times New Roman"/>
              </a:rPr>
              <a:t>Deepiga</a:t>
            </a:r>
            <a:r>
              <a:rPr lang="en-IN" dirty="0">
                <a:latin typeface="Times New Roman"/>
                <a:ea typeface="Times New Roman"/>
                <a:cs typeface="Times New Roman"/>
                <a:sym typeface="Times New Roman"/>
              </a:rPr>
              <a:t> N             727721EUIT027</a:t>
            </a:r>
          </a:p>
          <a:p>
            <a:pPr marL="0" lvl="0" indent="0" rtl="0">
              <a:lnSpc>
                <a:spcPct val="90000"/>
              </a:lnSpc>
              <a:spcBef>
                <a:spcPts val="1000"/>
              </a:spcBef>
              <a:spcAft>
                <a:spcPts val="0"/>
              </a:spcAft>
              <a:buClr>
                <a:schemeClr val="dk1"/>
              </a:buClr>
              <a:buSzPct val="100000"/>
              <a:buNone/>
            </a:pPr>
            <a:r>
              <a:rPr lang="en-IN" dirty="0">
                <a:latin typeface="Times New Roman"/>
                <a:ea typeface="Times New Roman"/>
                <a:cs typeface="Times New Roman"/>
                <a:sym typeface="Times New Roman"/>
              </a:rPr>
              <a:t>			Janani K S             727721EUIT059</a:t>
            </a:r>
          </a:p>
          <a:p>
            <a:pPr marL="0" lvl="0" indent="0" rtl="0">
              <a:lnSpc>
                <a:spcPct val="90000"/>
              </a:lnSpc>
              <a:spcBef>
                <a:spcPts val="1000"/>
              </a:spcBef>
              <a:spcAft>
                <a:spcPts val="0"/>
              </a:spcAft>
              <a:buClr>
                <a:schemeClr val="dk1"/>
              </a:buClr>
              <a:buSzPct val="100000"/>
              <a:buNone/>
            </a:pPr>
            <a:r>
              <a:rPr lang="en-US" b="1" dirty="0">
                <a:latin typeface="Times New Roman"/>
                <a:ea typeface="Times New Roman"/>
                <a:cs typeface="Times New Roman"/>
                <a:sym typeface="Times New Roman"/>
              </a:rPr>
              <a:t>                                                                  </a:t>
            </a:r>
          </a:p>
          <a:p>
            <a:pPr marL="0" lvl="0" indent="0" rtl="0">
              <a:lnSpc>
                <a:spcPct val="90000"/>
              </a:lnSpc>
              <a:spcBef>
                <a:spcPts val="1000"/>
              </a:spcBef>
              <a:spcAft>
                <a:spcPts val="0"/>
              </a:spcAft>
              <a:buClr>
                <a:schemeClr val="dk1"/>
              </a:buClr>
              <a:buSzPct val="100000"/>
              <a:buNone/>
            </a:pPr>
            <a:r>
              <a:rPr lang="en-US" b="1" dirty="0">
                <a:latin typeface="Times New Roman"/>
                <a:ea typeface="Times New Roman"/>
                <a:cs typeface="Times New Roman"/>
                <a:sym typeface="Times New Roman"/>
              </a:rPr>
              <a:t>		 		       GUIDED BY</a:t>
            </a:r>
          </a:p>
          <a:p>
            <a:pPr marL="0" lvl="0" indent="0" rtl="0">
              <a:lnSpc>
                <a:spcPct val="90000"/>
              </a:lnSpc>
              <a:spcBef>
                <a:spcPts val="1000"/>
              </a:spcBef>
              <a:spcAft>
                <a:spcPts val="0"/>
              </a:spcAft>
              <a:buClr>
                <a:schemeClr val="dk1"/>
              </a:buClr>
              <a:buSzPct val="100000"/>
              <a:buNone/>
            </a:pPr>
            <a:r>
              <a:rPr lang="en-IN" dirty="0"/>
              <a:t>			                   </a:t>
            </a:r>
            <a:r>
              <a:rPr lang="en-IN" dirty="0" err="1"/>
              <a:t>Dr.</a:t>
            </a:r>
            <a:r>
              <a:rPr lang="en-IN" dirty="0"/>
              <a:t> V . Sindhu  </a:t>
            </a:r>
          </a:p>
          <a:p>
            <a:pPr marL="0" lvl="0" indent="0" rtl="0">
              <a:lnSpc>
                <a:spcPct val="90000"/>
              </a:lnSpc>
              <a:spcBef>
                <a:spcPts val="1000"/>
              </a:spcBef>
              <a:spcAft>
                <a:spcPts val="0"/>
              </a:spcAft>
              <a:buClr>
                <a:schemeClr val="dk1"/>
              </a:buClr>
              <a:buSzPct val="100000"/>
              <a:buNone/>
            </a:pPr>
            <a:r>
              <a:rPr lang="en-IN" dirty="0"/>
              <a:t>                                    Assistant Professor – IT Department</a:t>
            </a:r>
          </a:p>
          <a:p>
            <a:pPr marL="0" lvl="0" indent="0" algn="ctr" rtl="0">
              <a:lnSpc>
                <a:spcPct val="90000"/>
              </a:lnSpc>
              <a:spcBef>
                <a:spcPts val="1000"/>
              </a:spcBef>
              <a:spcAft>
                <a:spcPts val="0"/>
              </a:spcAft>
              <a:buClr>
                <a:schemeClr val="dk1"/>
              </a:buClr>
              <a:buSzPct val="100000"/>
              <a:buNone/>
            </a:pPr>
            <a:endParaRPr dirty="0"/>
          </a:p>
        </p:txBody>
      </p:sp>
      <p:sp>
        <p:nvSpPr>
          <p:cNvPr id="161" name="Google Shape;161;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7" name="TextBox 6">
            <a:extLst>
              <a:ext uri="{FF2B5EF4-FFF2-40B4-BE49-F238E27FC236}">
                <a16:creationId xmlns:a16="http://schemas.microsoft.com/office/drawing/2014/main" id="{3EECAFD4-F276-98BE-0E75-22909B52F779}"/>
              </a:ext>
            </a:extLst>
          </p:cNvPr>
          <p:cNvSpPr txBox="1"/>
          <p:nvPr/>
        </p:nvSpPr>
        <p:spPr>
          <a:xfrm>
            <a:off x="1839685" y="5234540"/>
            <a:ext cx="6096000" cy="307777"/>
          </a:xfrm>
          <a:prstGeom prst="rect">
            <a:avLst/>
          </a:prstGeom>
          <a:noFill/>
        </p:spPr>
        <p:txBody>
          <a:bodyPr wrap="square">
            <a:spAutoFit/>
          </a:bodyPr>
          <a:lstStyle/>
          <a:p>
            <a:r>
              <a:rPr lang="en-IN" b="0" dirty="0">
                <a:effectLst/>
              </a:rPr>
              <a:t>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
          <p:cNvSpPr txBox="1"/>
          <p:nvPr/>
        </p:nvSpPr>
        <p:spPr>
          <a:xfrm>
            <a:off x="2516222" y="718061"/>
            <a:ext cx="6094378"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a:solidFill>
                  <a:srgbClr val="00B0F0"/>
                </a:solidFill>
                <a:latin typeface="Times New Roman"/>
                <a:cs typeface="Times New Roman"/>
                <a:sym typeface="Times New Roman"/>
              </a:rPr>
              <a:t>OBJECTIVE</a:t>
            </a:r>
            <a:endParaRPr sz="4400" b="1" dirty="0">
              <a:solidFill>
                <a:srgbClr val="00B0F0"/>
              </a:solidFill>
              <a:latin typeface="Times New Roman"/>
              <a:cs typeface="Times New Roman"/>
              <a:sym typeface="Calibri"/>
            </a:endParaRPr>
          </a:p>
        </p:txBody>
      </p:sp>
      <p:sp>
        <p:nvSpPr>
          <p:cNvPr id="3" name="Text Placeholder 2">
            <a:extLst>
              <a:ext uri="{FF2B5EF4-FFF2-40B4-BE49-F238E27FC236}">
                <a16:creationId xmlns:a16="http://schemas.microsoft.com/office/drawing/2014/main" id="{CE86E073-72CF-62AD-F70E-BDBE6F23323E}"/>
              </a:ext>
            </a:extLst>
          </p:cNvPr>
          <p:cNvSpPr>
            <a:spLocks noGrp="1"/>
          </p:cNvSpPr>
          <p:nvPr>
            <p:ph type="body" idx="1"/>
          </p:nvPr>
        </p:nvSpPr>
        <p:spPr>
          <a:xfrm>
            <a:off x="838200" y="1487462"/>
            <a:ext cx="10515600" cy="4689501"/>
          </a:xfrm>
        </p:spPr>
        <p:txBody>
          <a:bodyPr>
            <a:normAutofit/>
          </a:bodyPr>
          <a:lstStyle/>
          <a:p>
            <a:pPr marL="342900" marR="0" lvl="0" indent="-342900" algn="just">
              <a:lnSpc>
                <a:spcPct val="150000"/>
              </a:lnSpc>
              <a:spcBef>
                <a:spcPts val="0"/>
              </a:spcBef>
              <a:spcAft>
                <a:spcPts val="0"/>
              </a:spcAft>
              <a:buFont typeface="Arial" panose="020B0604020202020204" pitchFamily="34" charset="0"/>
              <a:buChar char="•"/>
              <a:tabLst>
                <a:tab pos="210756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develop a system that can accurately and efficiently detect and segment brain tumors in MRI images.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210756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improve upon the accuracy and efficiency of traditional brain tumor detection and segmentation methods.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210756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develop a system that is easy to implement and can be used with a variety of programming languages and software tools.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Arial" panose="020B0604020202020204" pitchFamily="34" charset="0"/>
              <a:buChar char="•"/>
              <a:tabLst>
                <a:tab pos="2107565"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make brain tumor detection and segmentation more accessible to patients in developing countries and other underserved areas.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8" name="Google Shape;168;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
          <p:cNvSpPr txBox="1"/>
          <p:nvPr/>
        </p:nvSpPr>
        <p:spPr>
          <a:xfrm>
            <a:off x="975360" y="678923"/>
            <a:ext cx="10378440"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a:solidFill>
                  <a:srgbClr val="00B0F0"/>
                </a:solidFill>
                <a:latin typeface="Times New Roman"/>
                <a:cs typeface="Times New Roman"/>
                <a:sym typeface="Times New Roman"/>
              </a:rPr>
              <a:t>PROBLEM</a:t>
            </a:r>
            <a:r>
              <a:rPr lang="en-US" sz="2800" b="1" dirty="0">
                <a:solidFill>
                  <a:srgbClr val="00B0F0"/>
                </a:solidFill>
                <a:latin typeface="Times New Roman"/>
                <a:cs typeface="Times New Roman"/>
                <a:sym typeface="Times New Roman"/>
              </a:rPr>
              <a:t> </a:t>
            </a:r>
            <a:r>
              <a:rPr lang="en-US" sz="4400" b="1" dirty="0">
                <a:solidFill>
                  <a:srgbClr val="00B0F0"/>
                </a:solidFill>
                <a:latin typeface="Times New Roman"/>
                <a:cs typeface="Times New Roman"/>
                <a:sym typeface="Times New Roman"/>
              </a:rPr>
              <a:t>DEFINITION</a:t>
            </a:r>
            <a:endParaRPr sz="4400" b="1" dirty="0">
              <a:solidFill>
                <a:srgbClr val="00B0F0"/>
              </a:solidFill>
              <a:latin typeface="Times New Roman"/>
              <a:cs typeface="Times New Roman"/>
            </a:endParaRPr>
          </a:p>
        </p:txBody>
      </p:sp>
      <p:sp>
        <p:nvSpPr>
          <p:cNvPr id="3" name="Text Placeholder 2">
            <a:extLst>
              <a:ext uri="{FF2B5EF4-FFF2-40B4-BE49-F238E27FC236}">
                <a16:creationId xmlns:a16="http://schemas.microsoft.com/office/drawing/2014/main" id="{DC895B39-E22B-5512-C667-CE6704AC7D5B}"/>
              </a:ext>
            </a:extLst>
          </p:cNvPr>
          <p:cNvSpPr>
            <a:spLocks noGrp="1"/>
          </p:cNvSpPr>
          <p:nvPr>
            <p:ph type="body" idx="1"/>
          </p:nvPr>
        </p:nvSpPr>
        <p:spPr>
          <a:xfrm>
            <a:off x="838200" y="1569720"/>
            <a:ext cx="10515600" cy="4786630"/>
          </a:xfrm>
        </p:spPr>
        <p:txBody>
          <a:bodyPr>
            <a:normAutofit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Brain disease detection is a challenging task, due to the complexity of the brain and the variability of brain diseases. </a:t>
            </a:r>
          </a:p>
          <a:p>
            <a:pPr algn="just">
              <a:lnSpc>
                <a:spcPct val="150000"/>
              </a:lnSpc>
            </a:pPr>
            <a:r>
              <a:rPr lang="en-US" sz="1800" dirty="0">
                <a:latin typeface="Times New Roman" panose="02020603050405020304" pitchFamily="18" charset="0"/>
                <a:cs typeface="Times New Roman" panose="02020603050405020304" pitchFamily="18" charset="0"/>
              </a:rPr>
              <a:t>Existing diagnostic methods, such as neuroimaging and clinical examinations, can be time-consuming, expensive, and invasive. </a:t>
            </a:r>
          </a:p>
          <a:p>
            <a:pPr algn="just">
              <a:lnSpc>
                <a:spcPct val="150000"/>
              </a:lnSpc>
            </a:pPr>
            <a:r>
              <a:rPr lang="en-US" sz="1800" dirty="0">
                <a:latin typeface="Times New Roman" panose="02020603050405020304" pitchFamily="18" charset="0"/>
                <a:cs typeface="Times New Roman" panose="02020603050405020304" pitchFamily="18" charset="0"/>
              </a:rPr>
              <a:t>Moreover, these methods may not be accurate or sensitive enough to detect brain diseases at an early stage. </a:t>
            </a:r>
          </a:p>
          <a:p>
            <a:pPr algn="just">
              <a:lnSpc>
                <a:spcPct val="150000"/>
              </a:lnSpc>
            </a:pPr>
            <a:r>
              <a:rPr lang="en-US" sz="1800" dirty="0">
                <a:latin typeface="Times New Roman" panose="02020603050405020304" pitchFamily="18" charset="0"/>
                <a:cs typeface="Times New Roman" panose="02020603050405020304" pitchFamily="18" charset="0"/>
              </a:rPr>
              <a:t>Machine learning and deep learning have the potential to overcome the limitations of existing diagnostic methods. </a:t>
            </a:r>
          </a:p>
          <a:p>
            <a:pPr algn="just">
              <a:lnSpc>
                <a:spcPct val="150000"/>
              </a:lnSpc>
            </a:pPr>
            <a:r>
              <a:rPr lang="en-US" sz="1800" dirty="0">
                <a:latin typeface="Times New Roman" panose="02020603050405020304" pitchFamily="18" charset="0"/>
                <a:cs typeface="Times New Roman" panose="02020603050405020304" pitchFamily="18" charset="0"/>
              </a:rPr>
              <a:t>These technologies can be used to develop accurate and efficient models for brain disease detection. However, there are a number of challenges that need to be addressed before machine learning and deep learning models can be widely deployed in clinical settings.</a:t>
            </a:r>
          </a:p>
        </p:txBody>
      </p:sp>
      <p:sp>
        <p:nvSpPr>
          <p:cNvPr id="175" name="Google Shape;175;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4400"/>
              <a:buFont typeface="Times New Roman"/>
              <a:buNone/>
            </a:pPr>
            <a:r>
              <a:rPr lang="en-US" sz="4400" b="1" dirty="0">
                <a:solidFill>
                  <a:srgbClr val="00B0F0"/>
                </a:solidFill>
                <a:latin typeface="Times New Roman"/>
                <a:ea typeface="Times New Roman"/>
                <a:cs typeface="Times New Roman"/>
                <a:sym typeface="Times New Roman"/>
              </a:rPr>
              <a:t>EXISTING SYSTEM </a:t>
            </a:r>
            <a:br>
              <a:rPr lang="en-US" sz="4400" b="1" dirty="0">
                <a:solidFill>
                  <a:srgbClr val="00B0F0"/>
                </a:solidFill>
                <a:latin typeface="Times New Roman"/>
                <a:ea typeface="Times New Roman"/>
                <a:cs typeface="Times New Roman"/>
                <a:sym typeface="Times New Roman"/>
              </a:rPr>
            </a:br>
            <a:endParaRPr dirty="0"/>
          </a:p>
        </p:txBody>
      </p:sp>
      <p:sp>
        <p:nvSpPr>
          <p:cNvPr id="181" name="Google Shape;181;p4"/>
          <p:cNvSpPr txBox="1">
            <a:spLocks noGrp="1"/>
          </p:cNvSpPr>
          <p:nvPr>
            <p:ph type="body" idx="1"/>
          </p:nvPr>
        </p:nvSpPr>
        <p:spPr>
          <a:xfrm>
            <a:off x="838200" y="1188720"/>
            <a:ext cx="10515600" cy="5167630"/>
          </a:xfrm>
          <a:prstGeom prst="rect">
            <a:avLst/>
          </a:prstGeom>
          <a:noFill/>
          <a:ln>
            <a:noFill/>
          </a:ln>
        </p:spPr>
        <p:txBody>
          <a:bodyPr spcFirstLastPara="1" wrap="square" lIns="91425" tIns="45700" rIns="91425" bIns="45700" anchor="t" anchorCtr="0">
            <a:normAutofit lnSpcReduction="10000"/>
          </a:bodyPr>
          <a:lstStyle/>
          <a:p>
            <a:pPr algn="just">
              <a:lnSpc>
                <a:spcPct val="150000"/>
              </a:lnSpc>
            </a:pPr>
            <a:r>
              <a:rPr lang="en-US" sz="1600" dirty="0">
                <a:latin typeface="Times New Roman" pitchFamily="18" charset="0"/>
                <a:cs typeface="Times New Roman" pitchFamily="18" charset="0"/>
              </a:rPr>
              <a:t>Brain is the controlling center of our body. With the advent of time, newer and newer brain diseases are being discovered. Thus, because of the variability of brain diseases, existing diagnosis or detection systems are becoming challenging and are still an open problem for research. </a:t>
            </a:r>
          </a:p>
          <a:p>
            <a:pPr algn="just">
              <a:lnSpc>
                <a:spcPct val="150000"/>
              </a:lnSpc>
            </a:pPr>
            <a:r>
              <a:rPr lang="en-US" sz="1600" dirty="0">
                <a:latin typeface="Times New Roman" pitchFamily="18" charset="0"/>
                <a:cs typeface="Times New Roman" pitchFamily="18" charset="0"/>
              </a:rPr>
              <a:t>Detection of brain diseases at an early stage can make a huge difference in attempting to cure them. In recent years, the use of artificial intelligence (AI) is surging through all spheres of science, and no doubt, it is revolutionizing the field of neurology. </a:t>
            </a:r>
          </a:p>
          <a:p>
            <a:pPr algn="just">
              <a:lnSpc>
                <a:spcPct val="150000"/>
              </a:lnSpc>
            </a:pPr>
            <a:r>
              <a:rPr lang="en-US" sz="1600" dirty="0">
                <a:latin typeface="Times New Roman" pitchFamily="18" charset="0"/>
                <a:cs typeface="Times New Roman" pitchFamily="18" charset="0"/>
              </a:rPr>
              <a:t>In existing system, we present a review on recent machine learning and deep learning approaches in detecting four brain diseases such as Alzheimer’s disease (AD), brain tumor, epilepsy, and Parkinson’s disease. 147 recent articles on four brain diseases are reviewed considering diverse machine learning and deep learning approaches, modalities, datasets etc. </a:t>
            </a:r>
          </a:p>
          <a:p>
            <a:pPr algn="just">
              <a:lnSpc>
                <a:spcPct val="150000"/>
              </a:lnSpc>
            </a:pPr>
            <a:r>
              <a:rPr lang="en-US" sz="1600" dirty="0">
                <a:latin typeface="Times New Roman" pitchFamily="18" charset="0"/>
                <a:cs typeface="Times New Roman" pitchFamily="18" charset="0"/>
              </a:rPr>
              <a:t>Moreover, a brief overview of different feature extraction techniques that are used in diagnosing brain diseases is provided. Finally, key findings from the reviewed articles are summarized and a number of major issues related to machine learning/deep learning-based brain disease diagnostic approaches are discussed. Through this study, we aim at finding the most accurate technique for detecting different brain diseases which can be employed for future betterment.</a:t>
            </a:r>
          </a:p>
        </p:txBody>
      </p:sp>
      <p:sp>
        <p:nvSpPr>
          <p:cNvPr id="182" name="Google Shape;18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B0F0"/>
              </a:buClr>
              <a:buSzPct val="100000"/>
              <a:buFont typeface="Times New Roman"/>
              <a:buNone/>
            </a:pPr>
            <a:r>
              <a:rPr lang="en-US" sz="4400" b="1">
                <a:solidFill>
                  <a:srgbClr val="00B0F0"/>
                </a:solidFill>
                <a:latin typeface="Times New Roman"/>
                <a:ea typeface="Times New Roman"/>
                <a:cs typeface="Times New Roman"/>
                <a:sym typeface="Times New Roman"/>
              </a:rPr>
              <a:t>DISADVANTAGES OF EXISTING SYSTEM</a:t>
            </a:r>
            <a:br>
              <a:rPr lang="en-US" sz="4400" b="1">
                <a:solidFill>
                  <a:srgbClr val="00B0F0"/>
                </a:solidFill>
                <a:latin typeface="Times New Roman"/>
                <a:ea typeface="Times New Roman"/>
                <a:cs typeface="Times New Roman"/>
                <a:sym typeface="Times New Roman"/>
              </a:rPr>
            </a:br>
            <a:endParaRPr/>
          </a:p>
        </p:txBody>
      </p:sp>
      <p:sp>
        <p:nvSpPr>
          <p:cNvPr id="188" name="Google Shape;188;p5"/>
          <p:cNvSpPr txBox="1">
            <a:spLocks noGrp="1"/>
          </p:cNvSpPr>
          <p:nvPr>
            <p:ph type="body" idx="1"/>
          </p:nvPr>
        </p:nvSpPr>
        <p:spPr>
          <a:xfrm>
            <a:off x="838200" y="1219200"/>
            <a:ext cx="10515600" cy="4957763"/>
          </a:xfrm>
          <a:prstGeom prst="rect">
            <a:avLst/>
          </a:prstGeom>
          <a:noFill/>
          <a:ln>
            <a:noFill/>
          </a:ln>
        </p:spPr>
        <p:txBody>
          <a:bodyPr spcFirstLastPara="1" wrap="square" lIns="91425" tIns="45700" rIns="91425" bIns="45700" anchor="t" anchorCtr="0">
            <a:normAutofit/>
          </a:bodyPr>
          <a:lstStyle/>
          <a:p>
            <a:pPr lvl="0" algn="just">
              <a:lnSpc>
                <a:spcPct val="150000"/>
              </a:lnSpc>
            </a:pPr>
            <a:r>
              <a:rPr lang="en-US" sz="1800" dirty="0">
                <a:latin typeface="Times New Roman" pitchFamily="18" charset="0"/>
                <a:cs typeface="Times New Roman" pitchFamily="18" charset="0"/>
              </a:rPr>
              <a:t>The techniques that were surveyed included: histogram based techniques, gradient based techniques, polynomial modeling based techniques, active contour based techniques, and classifiers based techniques. </a:t>
            </a:r>
          </a:p>
          <a:p>
            <a:pPr lvl="0" algn="just">
              <a:lnSpc>
                <a:spcPct val="150000"/>
              </a:lnSpc>
            </a:pPr>
            <a:r>
              <a:rPr lang="en-US" sz="1800" dirty="0">
                <a:latin typeface="Times New Roman" pitchFamily="18" charset="0"/>
                <a:cs typeface="Times New Roman" pitchFamily="18" charset="0"/>
              </a:rPr>
              <a:t>It only review the algorithms that have been proposed in the literature to enhance and segment tumor images that contain both masses and micro-calcification.</a:t>
            </a:r>
          </a:p>
          <a:p>
            <a:pPr lvl="0" algn="just">
              <a:lnSpc>
                <a:spcPct val="150000"/>
              </a:lnSpc>
            </a:pPr>
            <a:r>
              <a:rPr lang="en-US" sz="1800" dirty="0">
                <a:latin typeface="Times New Roman" pitchFamily="18" charset="0"/>
                <a:cs typeface="Times New Roman" pitchFamily="18" charset="0"/>
              </a:rPr>
              <a:t>There is no clear edge results.</a:t>
            </a:r>
          </a:p>
          <a:p>
            <a:pPr lvl="0" algn="just">
              <a:lnSpc>
                <a:spcPct val="150000"/>
              </a:lnSpc>
            </a:pPr>
            <a:r>
              <a:rPr lang="en-US" sz="1800" dirty="0">
                <a:latin typeface="Times New Roman" pitchFamily="18" charset="0"/>
                <a:cs typeface="Times New Roman" pitchFamily="18" charset="0"/>
              </a:rPr>
              <a:t>Dilate image sharpening to find tumor object is not possible.</a:t>
            </a:r>
          </a:p>
          <a:p>
            <a:pPr lvl="0" algn="just">
              <a:lnSpc>
                <a:spcPct val="150000"/>
              </a:lnSpc>
            </a:pPr>
            <a:r>
              <a:rPr lang="en-US" sz="1800" dirty="0">
                <a:latin typeface="Times New Roman" pitchFamily="18" charset="0"/>
                <a:cs typeface="Times New Roman" pitchFamily="18" charset="0"/>
              </a:rPr>
              <a:t>Less accuracy.</a:t>
            </a:r>
          </a:p>
        </p:txBody>
      </p:sp>
      <p:sp>
        <p:nvSpPr>
          <p:cNvPr id="189" name="Google Shape;18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4400"/>
              <a:buFont typeface="Times New Roman"/>
              <a:buNone/>
            </a:pPr>
            <a:r>
              <a:rPr lang="en-US" sz="4400" b="1" dirty="0">
                <a:solidFill>
                  <a:srgbClr val="00B0F0"/>
                </a:solidFill>
                <a:latin typeface="Times New Roman"/>
                <a:ea typeface="Times New Roman"/>
                <a:cs typeface="Times New Roman"/>
                <a:sym typeface="Times New Roman"/>
              </a:rPr>
              <a:t>PROPOSED SYSTEM</a:t>
            </a:r>
            <a:br>
              <a:rPr lang="en-US" sz="4400" b="1" dirty="0">
                <a:solidFill>
                  <a:srgbClr val="00B0F0"/>
                </a:solidFill>
                <a:latin typeface="Times New Roman"/>
                <a:ea typeface="Times New Roman"/>
                <a:cs typeface="Times New Roman"/>
                <a:sym typeface="Times New Roman"/>
              </a:rPr>
            </a:br>
            <a:endParaRPr dirty="0"/>
          </a:p>
        </p:txBody>
      </p:sp>
      <p:sp>
        <p:nvSpPr>
          <p:cNvPr id="195" name="Google Shape;195;p6"/>
          <p:cNvSpPr txBox="1">
            <a:spLocks noGrp="1"/>
          </p:cNvSpPr>
          <p:nvPr>
            <p:ph type="body" idx="1"/>
          </p:nvPr>
        </p:nvSpPr>
        <p:spPr>
          <a:xfrm>
            <a:off x="838200" y="1203960"/>
            <a:ext cx="10515600" cy="4973003"/>
          </a:xfrm>
          <a:prstGeom prst="rect">
            <a:avLst/>
          </a:prstGeom>
          <a:noFill/>
          <a:ln>
            <a:noFill/>
          </a:ln>
        </p:spPr>
        <p:txBody>
          <a:bodyPr spcFirstLastPara="1" wrap="square" lIns="91425" tIns="45700" rIns="91425" bIns="45700" anchor="t" anchorCtr="0">
            <a:normAutofit fontScale="55000" lnSpcReduction="20000"/>
          </a:bodyPr>
          <a:lstStyle/>
          <a:p>
            <a:pPr algn="just">
              <a:lnSpc>
                <a:spcPct val="150000"/>
              </a:lnSpc>
            </a:pPr>
            <a:r>
              <a:rPr lang="en-US" sz="2800" dirty="0">
                <a:latin typeface="Times New Roman" pitchFamily="18" charset="0"/>
                <a:cs typeface="Times New Roman" pitchFamily="18" charset="0"/>
              </a:rPr>
              <a:t>The proposed system Grey Level Co-occurrence Matrix </a:t>
            </a:r>
            <a:r>
              <a:rPr lang="en-US" sz="2800" b="1" dirty="0">
                <a:latin typeface="Times New Roman" pitchFamily="18" charset="0"/>
                <a:cs typeface="Times New Roman" pitchFamily="18" charset="0"/>
              </a:rPr>
              <a:t>(GLCM)</a:t>
            </a:r>
            <a:r>
              <a:rPr lang="en-US" sz="2800" dirty="0">
                <a:latin typeface="Times New Roman" pitchFamily="18" charset="0"/>
                <a:cs typeface="Times New Roman" pitchFamily="18" charset="0"/>
              </a:rPr>
              <a:t> Homomorphic Function is chosen in order to distinguish the interior area from other organs in the MR image dataset. </a:t>
            </a:r>
          </a:p>
          <a:p>
            <a:pPr algn="just">
              <a:lnSpc>
                <a:spcPct val="150000"/>
              </a:lnSpc>
            </a:pPr>
            <a:r>
              <a:rPr lang="en-US" sz="2800" dirty="0">
                <a:latin typeface="Times New Roman" pitchFamily="18" charset="0"/>
                <a:cs typeface="Times New Roman" pitchFamily="18" charset="0"/>
              </a:rPr>
              <a:t>Then modified gradient magnitude region growing algorithm is applied, in which gradient magnitude is computed by Sobel operator and employed as the definition of homogeneity criterion. </a:t>
            </a:r>
          </a:p>
          <a:p>
            <a:pPr algn="just">
              <a:lnSpc>
                <a:spcPct val="150000"/>
              </a:lnSpc>
            </a:pPr>
            <a:r>
              <a:rPr lang="en-US" sz="2800" dirty="0">
                <a:latin typeface="Times New Roman" pitchFamily="18" charset="0"/>
                <a:cs typeface="Times New Roman" pitchFamily="18" charset="0"/>
              </a:rPr>
              <a:t>This implementation allowed stable boundary detection when the gradient suffers from intersection variations and gaps. </a:t>
            </a:r>
          </a:p>
          <a:p>
            <a:pPr algn="just">
              <a:lnSpc>
                <a:spcPct val="150000"/>
              </a:lnSpc>
            </a:pPr>
            <a:r>
              <a:rPr lang="en-US" sz="2800" dirty="0">
                <a:latin typeface="Times New Roman" pitchFamily="18" charset="0"/>
                <a:cs typeface="Times New Roman" pitchFamily="18" charset="0"/>
              </a:rPr>
              <a:t>By analyzing the gradient magnitude, the sufficient contrast present on the boundary region that increases the accuracy of segmentation. </a:t>
            </a:r>
          </a:p>
          <a:p>
            <a:pPr algn="just">
              <a:lnSpc>
                <a:spcPct val="150000"/>
              </a:lnSpc>
            </a:pPr>
            <a:r>
              <a:rPr lang="en-US" sz="2800" dirty="0">
                <a:latin typeface="Times New Roman" pitchFamily="18" charset="0"/>
                <a:cs typeface="Times New Roman" pitchFamily="18" charset="0"/>
              </a:rPr>
              <a:t>To calculate the size of segmented tumor the relabeled method based on remaps the labels associated with object in a segmented image such that the label numbers are consecutive with no gaps between the label numbers used. </a:t>
            </a:r>
          </a:p>
          <a:p>
            <a:pPr algn="just">
              <a:lnSpc>
                <a:spcPct val="150000"/>
              </a:lnSpc>
            </a:pPr>
            <a:r>
              <a:rPr lang="en-US" sz="2800" dirty="0">
                <a:latin typeface="Times New Roman" pitchFamily="18" charset="0"/>
                <a:cs typeface="Times New Roman" pitchFamily="18" charset="0"/>
              </a:rPr>
              <a:t>Any object can be extracted from the relabeled output using a binary threshold. Here, the  bat algorithm is adjusted to extract and relabeled the tumor and then find its size in pixels. The algorithm works well in two stages. The second stage is to determine the output requested region to get total number of pixels accessed. Segmented areas are automatically calculated and to get desired tumor area per slice.</a:t>
            </a:r>
          </a:p>
        </p:txBody>
      </p:sp>
      <p:sp>
        <p:nvSpPr>
          <p:cNvPr id="196" name="Google Shape;19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7"/>
          <p:cNvSpPr txBox="1">
            <a:spLocks noGrp="1"/>
          </p:cNvSpPr>
          <p:nvPr>
            <p:ph type="title"/>
          </p:nvPr>
        </p:nvSpPr>
        <p:spPr>
          <a:xfrm>
            <a:off x="523875" y="365125"/>
            <a:ext cx="1082992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B0F0"/>
              </a:buClr>
              <a:buSzPts val="4400"/>
              <a:buFont typeface="Times New Roman"/>
              <a:buNone/>
            </a:pPr>
            <a:r>
              <a:rPr lang="en-US" sz="4400" b="1" dirty="0">
                <a:solidFill>
                  <a:srgbClr val="00B0F0"/>
                </a:solidFill>
                <a:latin typeface="Times New Roman"/>
                <a:ea typeface="Times New Roman"/>
                <a:cs typeface="Times New Roman"/>
                <a:sym typeface="Times New Roman"/>
              </a:rPr>
              <a:t>ADVANTAGES OF PROPOSED SYSTEM</a:t>
            </a:r>
            <a:endParaRPr dirty="0"/>
          </a:p>
        </p:txBody>
      </p:sp>
      <p:sp>
        <p:nvSpPr>
          <p:cNvPr id="202" name="Google Shape;202;p7"/>
          <p:cNvSpPr txBox="1">
            <a:spLocks noGrp="1"/>
          </p:cNvSpPr>
          <p:nvPr>
            <p:ph type="body" idx="1"/>
          </p:nvPr>
        </p:nvSpPr>
        <p:spPr>
          <a:xfrm>
            <a:off x="523875" y="1463040"/>
            <a:ext cx="10829925" cy="4713923"/>
          </a:xfrm>
          <a:prstGeom prst="rect">
            <a:avLst/>
          </a:prstGeom>
          <a:noFill/>
          <a:ln>
            <a:noFill/>
          </a:ln>
        </p:spPr>
        <p:txBody>
          <a:bodyPr spcFirstLastPara="1" wrap="square" lIns="91425" tIns="45700" rIns="91425" bIns="45700" anchor="t" anchorCtr="0">
            <a:normAutofit fontScale="70000" lnSpcReduction="20000"/>
          </a:bodyPr>
          <a:lstStyle/>
          <a:p>
            <a:pPr lvl="0" algn="just">
              <a:lnSpc>
                <a:spcPct val="150000"/>
              </a:lnSpc>
            </a:pPr>
            <a:r>
              <a:rPr lang="en-US" sz="2800" dirty="0">
                <a:latin typeface="Times New Roman" pitchFamily="18" charset="0"/>
                <a:cs typeface="Times New Roman" pitchFamily="18" charset="0"/>
              </a:rPr>
              <a:t>The Tumor are difficult images to interpret, and a preprocessing phase is necessary to improve the quality of the images and make the feature extraction phase more reliable.</a:t>
            </a:r>
          </a:p>
          <a:p>
            <a:pPr lvl="0" algn="just">
              <a:lnSpc>
                <a:spcPct val="150000"/>
              </a:lnSpc>
            </a:pPr>
            <a:r>
              <a:rPr lang="en-US" sz="2800" dirty="0">
                <a:latin typeface="Times New Roman" pitchFamily="18" charset="0"/>
                <a:cs typeface="Times New Roman" pitchFamily="18" charset="0"/>
              </a:rPr>
              <a:t>High accuracy.</a:t>
            </a:r>
          </a:p>
          <a:p>
            <a:pPr lvl="0" algn="just">
              <a:lnSpc>
                <a:spcPct val="150000"/>
              </a:lnSpc>
            </a:pPr>
            <a:r>
              <a:rPr lang="en-US" sz="2800" dirty="0">
                <a:latin typeface="Times New Roman" pitchFamily="18" charset="0"/>
                <a:cs typeface="Times New Roman" pitchFamily="18" charset="0"/>
              </a:rPr>
              <a:t>Clear edge results.</a:t>
            </a:r>
          </a:p>
          <a:p>
            <a:pPr lvl="0" algn="just">
              <a:lnSpc>
                <a:spcPct val="150000"/>
              </a:lnSpc>
            </a:pPr>
            <a:r>
              <a:rPr lang="en-US" sz="2800" dirty="0">
                <a:latin typeface="Times New Roman" pitchFamily="18" charset="0"/>
                <a:cs typeface="Times New Roman" pitchFamily="18" charset="0"/>
              </a:rPr>
              <a:t>Brain contour detection and confine further analysis to the brain region alone which otherwise could bias the detection procedures in  on sequent stages.</a:t>
            </a:r>
          </a:p>
          <a:p>
            <a:pPr lvl="0" algn="just">
              <a:lnSpc>
                <a:spcPct val="150000"/>
              </a:lnSpc>
            </a:pPr>
            <a:r>
              <a:rPr lang="en-US" sz="2800" dirty="0">
                <a:latin typeface="Times New Roman" pitchFamily="18" charset="0"/>
                <a:cs typeface="Times New Roman" pitchFamily="18" charset="0"/>
              </a:rPr>
              <a:t>Effective Edge detection is a well-developed field on its own within Medical image processing.</a:t>
            </a:r>
          </a:p>
          <a:p>
            <a:pPr algn="just">
              <a:lnSpc>
                <a:spcPct val="150000"/>
              </a:lnSpc>
            </a:pPr>
            <a:r>
              <a:rPr lang="en-US" sz="2800" dirty="0">
                <a:latin typeface="Times New Roman" pitchFamily="18" charset="0"/>
                <a:cs typeface="Times New Roman" pitchFamily="18" charset="0"/>
              </a:rPr>
              <a:t>Multi Phase Segmentation supported.</a:t>
            </a:r>
            <a:endParaRPr dirty="0"/>
          </a:p>
        </p:txBody>
      </p:sp>
      <p:sp>
        <p:nvSpPr>
          <p:cNvPr id="203" name="Google Shape;20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aphicFrame>
        <p:nvGraphicFramePr>
          <p:cNvPr id="209" name="Google Shape;209;p8"/>
          <p:cNvGraphicFramePr/>
          <p:nvPr>
            <p:extLst>
              <p:ext uri="{D42A27DB-BD31-4B8C-83A1-F6EECF244321}">
                <p14:modId xmlns:p14="http://schemas.microsoft.com/office/powerpoint/2010/main" val="3043696014"/>
              </p:ext>
            </p:extLst>
          </p:nvPr>
        </p:nvGraphicFramePr>
        <p:xfrm>
          <a:off x="621131" y="1430342"/>
          <a:ext cx="11149763" cy="5322435"/>
        </p:xfrm>
        <a:graphic>
          <a:graphicData uri="http://schemas.openxmlformats.org/drawingml/2006/table">
            <a:tbl>
              <a:tblPr firstRow="1" bandRow="1">
                <a:noFill/>
                <a:tableStyleId>{2C60E524-4960-47BC-BFD3-265457FAA043}</a:tableStyleId>
              </a:tblPr>
              <a:tblGrid>
                <a:gridCol w="1764882">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gridCol w="2757488">
                  <a:extLst>
                    <a:ext uri="{9D8B030D-6E8A-4147-A177-3AD203B41FA5}">
                      <a16:colId xmlns:a16="http://schemas.microsoft.com/office/drawing/2014/main" val="20003"/>
                    </a:ext>
                  </a:extLst>
                </a:gridCol>
                <a:gridCol w="1883943">
                  <a:extLst>
                    <a:ext uri="{9D8B030D-6E8A-4147-A177-3AD203B41FA5}">
                      <a16:colId xmlns:a16="http://schemas.microsoft.com/office/drawing/2014/main" val="20004"/>
                    </a:ext>
                  </a:extLst>
                </a:gridCol>
              </a:tblGrid>
              <a:tr h="902815">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 Title</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Authors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Feature Extraction Methodology</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Datasets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Demerits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10000"/>
                  </a:ext>
                </a:extLst>
              </a:tr>
              <a:tr h="902815">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Brain tumor magnetic resonance image classification: a deep learning approach</a:t>
                      </a:r>
                    </a:p>
                  </a:txBody>
                  <a:tcPr marL="91450" marR="91450" marT="45725" marB="45725">
                    <a:solidFill>
                      <a:schemeClr val="lt2"/>
                    </a:solidFill>
                  </a:tcPr>
                </a:tc>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Machiraju Jaya Lakshmi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The network’s initial layers extract low-level features like edges, textures, and shapes.</a:t>
                      </a:r>
                      <a:r>
                        <a:rPr lang="en-US" sz="1600" b="0" dirty="0">
                          <a:latin typeface="Times New Roman" panose="02020603050405020304" pitchFamily="18" charset="0"/>
                          <a:cs typeface="Times New Roman" panose="02020603050405020304" pitchFamily="18" charset="0"/>
                        </a:rPr>
                        <a:t> The concatenation of features from the deeper layers allows the model to capture more complex patterns in the images.</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The dataset used in this paper consists of brain MRI images that are labeled for tumor classification. These images are sourced from publicly available datasets such as the Brain MRI dataset from Kaggle or similar platforms.</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400" b="0" dirty="0">
                          <a:latin typeface="Times New Roman" panose="02020603050405020304" pitchFamily="18" charset="0"/>
                          <a:cs typeface="Times New Roman" panose="02020603050405020304" pitchFamily="18" charset="0"/>
                        </a:rPr>
                        <a:t>The Inception-v3 model has a large number of parameters, which may lead to overfitting, especially when the dataset is not large enough or diverse enough. The model may perform well on training data but struggle with new, unseen data (validation data).</a:t>
                      </a:r>
                      <a:endParaRPr sz="14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593127863"/>
                  </a:ext>
                </a:extLst>
              </a:tr>
              <a:tr h="902815">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Brain tumor classification based on attention guided deep learning model</a:t>
                      </a: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Wen Jun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Feature extraction is performed using a novel Convolutional Neural Network (CNN) architecture that integrates an attention mechanism and a multipath network.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The dataset used in this study consists of 3064 T1-weighted contrast-enhanced MRI images from brain tumor patients.</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200" b="0" dirty="0">
                          <a:latin typeface="Times New Roman" panose="02020603050405020304" pitchFamily="18" charset="0"/>
                          <a:cs typeface="Times New Roman" panose="02020603050405020304" pitchFamily="18" charset="0"/>
                        </a:rPr>
                        <a:t>Despite the effectiveness of the attention mechanism and multipath network, there is still a potential risk of overfitting, especially if the dataset is not sufficiently large or diverse. </a:t>
                      </a:r>
                      <a:endParaRPr sz="12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2858930510"/>
                  </a:ext>
                </a:extLst>
              </a:tr>
            </a:tbl>
          </a:graphicData>
        </a:graphic>
      </p:graphicFrame>
      <p:sp>
        <p:nvSpPr>
          <p:cNvPr id="210" name="Google Shape;210;p8"/>
          <p:cNvSpPr txBox="1"/>
          <p:nvPr/>
        </p:nvSpPr>
        <p:spPr>
          <a:xfrm>
            <a:off x="2146041" y="298580"/>
            <a:ext cx="785637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00B0F0"/>
                </a:solidFill>
                <a:latin typeface="Times New Roman"/>
                <a:ea typeface="Times New Roman"/>
                <a:cs typeface="Times New Roman"/>
                <a:sym typeface="Times New Roman"/>
              </a:rPr>
              <a:t>LITERATURE SURVEY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a:extLst>
            <a:ext uri="{FF2B5EF4-FFF2-40B4-BE49-F238E27FC236}">
              <a16:creationId xmlns:a16="http://schemas.microsoft.com/office/drawing/2014/main" id="{252723A4-0931-D71D-EA1C-4D0BC118314B}"/>
            </a:ext>
          </a:extLst>
        </p:cNvPr>
        <p:cNvGrpSpPr/>
        <p:nvPr/>
      </p:nvGrpSpPr>
      <p:grpSpPr>
        <a:xfrm>
          <a:off x="0" y="0"/>
          <a:ext cx="0" cy="0"/>
          <a:chOff x="0" y="0"/>
          <a:chExt cx="0" cy="0"/>
        </a:xfrm>
      </p:grpSpPr>
      <p:sp>
        <p:nvSpPr>
          <p:cNvPr id="208" name="Google Shape;208;p8">
            <a:extLst>
              <a:ext uri="{FF2B5EF4-FFF2-40B4-BE49-F238E27FC236}">
                <a16:creationId xmlns:a16="http://schemas.microsoft.com/office/drawing/2014/main" id="{1272D1E6-E2D8-D08A-086D-FB3330B768E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aphicFrame>
        <p:nvGraphicFramePr>
          <p:cNvPr id="209" name="Google Shape;209;p8">
            <a:extLst>
              <a:ext uri="{FF2B5EF4-FFF2-40B4-BE49-F238E27FC236}">
                <a16:creationId xmlns:a16="http://schemas.microsoft.com/office/drawing/2014/main" id="{455D2E66-574B-21B9-998C-CFC429C47F50}"/>
              </a:ext>
            </a:extLst>
          </p:cNvPr>
          <p:cNvGraphicFramePr/>
          <p:nvPr>
            <p:extLst>
              <p:ext uri="{D42A27DB-BD31-4B8C-83A1-F6EECF244321}">
                <p14:modId xmlns:p14="http://schemas.microsoft.com/office/powerpoint/2010/main" val="225332888"/>
              </p:ext>
            </p:extLst>
          </p:nvPr>
        </p:nvGraphicFramePr>
        <p:xfrm>
          <a:off x="621131" y="1430342"/>
          <a:ext cx="11149763" cy="5230995"/>
        </p:xfrm>
        <a:graphic>
          <a:graphicData uri="http://schemas.openxmlformats.org/drawingml/2006/table">
            <a:tbl>
              <a:tblPr firstRow="1" bandRow="1">
                <a:noFill/>
                <a:tableStyleId>{2C60E524-4960-47BC-BFD3-265457FAA043}</a:tableStyleId>
              </a:tblPr>
              <a:tblGrid>
                <a:gridCol w="1764882">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gridCol w="2757488">
                  <a:extLst>
                    <a:ext uri="{9D8B030D-6E8A-4147-A177-3AD203B41FA5}">
                      <a16:colId xmlns:a16="http://schemas.microsoft.com/office/drawing/2014/main" val="20003"/>
                    </a:ext>
                  </a:extLst>
                </a:gridCol>
                <a:gridCol w="1883943">
                  <a:extLst>
                    <a:ext uri="{9D8B030D-6E8A-4147-A177-3AD203B41FA5}">
                      <a16:colId xmlns:a16="http://schemas.microsoft.com/office/drawing/2014/main" val="20004"/>
                    </a:ext>
                  </a:extLst>
                </a:gridCol>
              </a:tblGrid>
              <a:tr h="902815">
                <a:tc>
                  <a:txBody>
                    <a:bodyPr/>
                    <a:lstStyle/>
                    <a:p>
                      <a:pPr marL="0" marR="0" lvl="0" indent="0" algn="ctr" rtl="0">
                        <a:spcBef>
                          <a:spcPts val="0"/>
                        </a:spcBef>
                        <a:spcAft>
                          <a:spcPts val="0"/>
                        </a:spcAft>
                        <a:buNone/>
                      </a:pPr>
                      <a:endParaRPr lang="en-US" sz="12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 Title</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Authors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Feature Extraction Methodology</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Datasets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Demerits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10000"/>
                  </a:ext>
                </a:extLst>
              </a:tr>
              <a:tr h="902815">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A deep learning-based framework for automatic brain tumors classification using transfer learning</a:t>
                      </a:r>
                    </a:p>
                  </a:txBody>
                  <a:tcPr marL="91450" marR="91450" marT="45725" marB="45725">
                    <a:solidFill>
                      <a:schemeClr val="lt2"/>
                    </a:solidFill>
                  </a:tcPr>
                </a:tc>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Archie Rehman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The feature extraction process is conducted using three different architectures of Convolutional Neural Networks (CNNs): </a:t>
                      </a:r>
                      <a:r>
                        <a:rPr lang="en-US" sz="1600" b="0" dirty="0" err="1">
                          <a:latin typeface="Times New Roman" panose="02020603050405020304" pitchFamily="18" charset="0"/>
                          <a:ea typeface="Times New Roman"/>
                          <a:cs typeface="Times New Roman" panose="02020603050405020304" pitchFamily="18" charset="0"/>
                          <a:sym typeface="Times New Roman"/>
                        </a:rPr>
                        <a:t>AlexNet</a:t>
                      </a:r>
                      <a:r>
                        <a:rPr lang="en-US" sz="1600" b="0" dirty="0">
                          <a:latin typeface="Times New Roman" panose="02020603050405020304" pitchFamily="18" charset="0"/>
                          <a:ea typeface="Times New Roman"/>
                          <a:cs typeface="Times New Roman" panose="02020603050405020304" pitchFamily="18" charset="0"/>
                          <a:sym typeface="Times New Roman"/>
                        </a:rPr>
                        <a:t>, </a:t>
                      </a:r>
                      <a:r>
                        <a:rPr lang="en-US" sz="1600" b="0" dirty="0" err="1">
                          <a:latin typeface="Times New Roman" panose="02020603050405020304" pitchFamily="18" charset="0"/>
                          <a:ea typeface="Times New Roman"/>
                          <a:cs typeface="Times New Roman" panose="02020603050405020304" pitchFamily="18" charset="0"/>
                          <a:sym typeface="Times New Roman"/>
                        </a:rPr>
                        <a:t>GoogleNet</a:t>
                      </a:r>
                      <a:r>
                        <a:rPr lang="en-US" sz="1600" b="0" dirty="0">
                          <a:latin typeface="Times New Roman" panose="02020603050405020304" pitchFamily="18" charset="0"/>
                          <a:ea typeface="Times New Roman"/>
                          <a:cs typeface="Times New Roman" panose="02020603050405020304" pitchFamily="18" charset="0"/>
                          <a:sym typeface="Times New Roman"/>
                        </a:rPr>
                        <a:t>, and </a:t>
                      </a:r>
                      <a:r>
                        <a:rPr lang="en-US" sz="1600" b="0" dirty="0" err="1">
                          <a:latin typeface="Times New Roman" panose="02020603050405020304" pitchFamily="18" charset="0"/>
                          <a:ea typeface="Times New Roman"/>
                          <a:cs typeface="Times New Roman" panose="02020603050405020304" pitchFamily="18" charset="0"/>
                          <a:sym typeface="Times New Roman"/>
                        </a:rPr>
                        <a:t>VGGNet</a:t>
                      </a:r>
                      <a:r>
                        <a:rPr lang="en-US" sz="1600" b="0" dirty="0">
                          <a:latin typeface="Times New Roman" panose="02020603050405020304" pitchFamily="18" charset="0"/>
                          <a:ea typeface="Times New Roman"/>
                          <a:cs typeface="Times New Roman" panose="02020603050405020304" pitchFamily="18" charset="0"/>
                          <a:sym typeface="Times New Roman"/>
                        </a:rPr>
                        <a:t>.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The dataset used in the proposed system consists of MRI slices of brain tumor patients sourced from the </a:t>
                      </a:r>
                      <a:r>
                        <a:rPr lang="en-US" sz="1600" b="0" dirty="0" err="1">
                          <a:latin typeface="Times New Roman" panose="02020603050405020304" pitchFamily="18" charset="0"/>
                          <a:cs typeface="Times New Roman" panose="02020603050405020304" pitchFamily="18" charset="0"/>
                        </a:rPr>
                        <a:t>Figshare</a:t>
                      </a:r>
                      <a:r>
                        <a:rPr lang="en-US" sz="1600" b="0" dirty="0">
                          <a:latin typeface="Times New Roman" panose="02020603050405020304" pitchFamily="18" charset="0"/>
                          <a:cs typeface="Times New Roman" panose="02020603050405020304" pitchFamily="18" charset="0"/>
                        </a:rPr>
                        <a:t> platform. This dataset includes labeled MRI images of various brain tumors, including meningioma, glioma, and pituitary tumors.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400" b="0" dirty="0">
                          <a:latin typeface="Times New Roman" panose="02020603050405020304" pitchFamily="18" charset="0"/>
                          <a:cs typeface="Times New Roman" panose="02020603050405020304" pitchFamily="18" charset="0"/>
                        </a:rPr>
                        <a:t>While the dataset from </a:t>
                      </a:r>
                      <a:r>
                        <a:rPr lang="en-US" sz="1400" b="0" dirty="0" err="1">
                          <a:latin typeface="Times New Roman" panose="02020603050405020304" pitchFamily="18" charset="0"/>
                          <a:cs typeface="Times New Roman" panose="02020603050405020304" pitchFamily="18" charset="0"/>
                        </a:rPr>
                        <a:t>Figshare</a:t>
                      </a:r>
                      <a:r>
                        <a:rPr lang="en-US" sz="1400" b="0" dirty="0">
                          <a:latin typeface="Times New Roman" panose="02020603050405020304" pitchFamily="18" charset="0"/>
                          <a:cs typeface="Times New Roman" panose="02020603050405020304" pitchFamily="18" charset="0"/>
                        </a:rPr>
                        <a:t> is used for training, it may have limited diversity in terms of tumor types, patient demographics, or imaging conditions.</a:t>
                      </a:r>
                      <a:endParaRPr sz="14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593127863"/>
                  </a:ext>
                </a:extLst>
              </a:tr>
              <a:tr h="902815">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Deep learning for medical anomaly detection - a survey</a:t>
                      </a:r>
                    </a:p>
                  </a:txBody>
                  <a:tcPr marL="91450" marR="91450" marT="45725" marB="45725">
                    <a:solidFill>
                      <a:schemeClr val="lt2"/>
                    </a:solidFill>
                  </a:tcPr>
                </a:tc>
                <a:tc>
                  <a:txBody>
                    <a:bodyPr/>
                    <a:lstStyle/>
                    <a:p>
                      <a:pPr marL="0" marR="0" lvl="0" indent="0" algn="l" rtl="0">
                        <a:spcBef>
                          <a:spcPts val="0"/>
                        </a:spcBef>
                        <a:spcAft>
                          <a:spcPts val="0"/>
                        </a:spcAft>
                        <a:buNone/>
                      </a:pPr>
                      <a:r>
                        <a:rPr lang="en-US" sz="1600" b="0" dirty="0" err="1">
                          <a:latin typeface="Times New Roman" panose="02020603050405020304" pitchFamily="18" charset="0"/>
                          <a:ea typeface="Times New Roman"/>
                          <a:cs typeface="Times New Roman" panose="02020603050405020304" pitchFamily="18" charset="0"/>
                          <a:sym typeface="Times New Roman"/>
                        </a:rPr>
                        <a:t>Tharindu</a:t>
                      </a:r>
                      <a:r>
                        <a:rPr lang="en-US" sz="1600" b="0" dirty="0">
                          <a:latin typeface="Times New Roman" panose="02020603050405020304" pitchFamily="18" charset="0"/>
                          <a:ea typeface="Times New Roman"/>
                          <a:cs typeface="Times New Roman" panose="02020603050405020304" pitchFamily="18" charset="0"/>
                          <a:sym typeface="Times New Roman"/>
                        </a:rPr>
                        <a:t> Fernando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Deep learning models, particularly convolutional neural networks (CNNs) for images and recurrent neural networks (RNNs) for time-series data, automatically extract relevant features through their layers.</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The datasets used in deep learning-based medical anomaly detection vary across different medical applications. These can include MRI scans, CT scans, X-ray images, ECG signals, and EEG signals, among others.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400" b="0" dirty="0">
                          <a:latin typeface="Times New Roman" panose="02020603050405020304" pitchFamily="18" charset="0"/>
                          <a:cs typeface="Times New Roman" panose="02020603050405020304" pitchFamily="18" charset="0"/>
                        </a:rPr>
                        <a:t>Medical data can often be noisy due to imperfect sensors, environmental factors, or inconsistencies in patient conditions, which can reduce the model's effectiveness.</a:t>
                      </a:r>
                      <a:endParaRPr sz="14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2858930510"/>
                  </a:ext>
                </a:extLst>
              </a:tr>
            </a:tbl>
          </a:graphicData>
        </a:graphic>
      </p:graphicFrame>
      <p:sp>
        <p:nvSpPr>
          <p:cNvPr id="210" name="Google Shape;210;p8">
            <a:extLst>
              <a:ext uri="{FF2B5EF4-FFF2-40B4-BE49-F238E27FC236}">
                <a16:creationId xmlns:a16="http://schemas.microsoft.com/office/drawing/2014/main" id="{B430FC61-7EE0-C2C0-5B3A-56D8C25CA274}"/>
              </a:ext>
            </a:extLst>
          </p:cNvPr>
          <p:cNvSpPr txBox="1"/>
          <p:nvPr/>
        </p:nvSpPr>
        <p:spPr>
          <a:xfrm>
            <a:off x="2146041" y="298580"/>
            <a:ext cx="785637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00B0F0"/>
                </a:solidFill>
                <a:latin typeface="Times New Roman"/>
                <a:ea typeface="Times New Roman"/>
                <a:cs typeface="Times New Roman"/>
                <a:sym typeface="Times New Roman"/>
              </a:rPr>
              <a:t>LITERATURE SURVEY</a:t>
            </a:r>
            <a:endParaRPr/>
          </a:p>
        </p:txBody>
      </p:sp>
    </p:spTree>
    <p:extLst>
      <p:ext uri="{BB962C8B-B14F-4D97-AF65-F5344CB8AC3E}">
        <p14:creationId xmlns:p14="http://schemas.microsoft.com/office/powerpoint/2010/main" val="3081374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a:extLst>
            <a:ext uri="{FF2B5EF4-FFF2-40B4-BE49-F238E27FC236}">
              <a16:creationId xmlns:a16="http://schemas.microsoft.com/office/drawing/2014/main" id="{0D873E87-F66A-87CC-E263-A9CD5EDA477D}"/>
            </a:ext>
          </a:extLst>
        </p:cNvPr>
        <p:cNvGrpSpPr/>
        <p:nvPr/>
      </p:nvGrpSpPr>
      <p:grpSpPr>
        <a:xfrm>
          <a:off x="0" y="0"/>
          <a:ext cx="0" cy="0"/>
          <a:chOff x="0" y="0"/>
          <a:chExt cx="0" cy="0"/>
        </a:xfrm>
      </p:grpSpPr>
      <p:sp>
        <p:nvSpPr>
          <p:cNvPr id="208" name="Google Shape;208;p8">
            <a:extLst>
              <a:ext uri="{FF2B5EF4-FFF2-40B4-BE49-F238E27FC236}">
                <a16:creationId xmlns:a16="http://schemas.microsoft.com/office/drawing/2014/main" id="{011015B2-6366-F1F0-63D1-19303BCC7A9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209" name="Google Shape;209;p8">
            <a:extLst>
              <a:ext uri="{FF2B5EF4-FFF2-40B4-BE49-F238E27FC236}">
                <a16:creationId xmlns:a16="http://schemas.microsoft.com/office/drawing/2014/main" id="{10ACC554-4781-B92E-F64F-57AFECBEEBA3}"/>
              </a:ext>
            </a:extLst>
          </p:cNvPr>
          <p:cNvGraphicFramePr/>
          <p:nvPr>
            <p:extLst>
              <p:ext uri="{D42A27DB-BD31-4B8C-83A1-F6EECF244321}">
                <p14:modId xmlns:p14="http://schemas.microsoft.com/office/powerpoint/2010/main" val="1930857659"/>
              </p:ext>
            </p:extLst>
          </p:nvPr>
        </p:nvGraphicFramePr>
        <p:xfrm>
          <a:off x="521118" y="1258892"/>
          <a:ext cx="11149763" cy="4408025"/>
        </p:xfrm>
        <a:graphic>
          <a:graphicData uri="http://schemas.openxmlformats.org/drawingml/2006/table">
            <a:tbl>
              <a:tblPr firstRow="1" bandRow="1">
                <a:noFill/>
                <a:tableStyleId>{2C60E524-4960-47BC-BFD3-265457FAA043}</a:tableStyleId>
              </a:tblPr>
              <a:tblGrid>
                <a:gridCol w="1764882">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gridCol w="2757488">
                  <a:extLst>
                    <a:ext uri="{9D8B030D-6E8A-4147-A177-3AD203B41FA5}">
                      <a16:colId xmlns:a16="http://schemas.microsoft.com/office/drawing/2014/main" val="20003"/>
                    </a:ext>
                  </a:extLst>
                </a:gridCol>
                <a:gridCol w="1883943">
                  <a:extLst>
                    <a:ext uri="{9D8B030D-6E8A-4147-A177-3AD203B41FA5}">
                      <a16:colId xmlns:a16="http://schemas.microsoft.com/office/drawing/2014/main" val="20004"/>
                    </a:ext>
                  </a:extLst>
                </a:gridCol>
              </a:tblGrid>
              <a:tr h="902815">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References Title</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Authors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Feature Extraction Methodology</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Datasets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spcBef>
                          <a:spcPts val="0"/>
                        </a:spcBef>
                        <a:spcAft>
                          <a:spcPts val="0"/>
                        </a:spcAft>
                        <a:buNone/>
                      </a:pPr>
                      <a:endPar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spcBef>
                          <a:spcPts val="0"/>
                        </a:spcBef>
                        <a:spcAft>
                          <a:spcPts val="0"/>
                        </a:spcAft>
                        <a:buNone/>
                      </a:pPr>
                      <a:r>
                        <a:rPr lang="en-US" sz="1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Demerits</a:t>
                      </a:r>
                      <a:endParaRPr sz="1600" b="1"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10000"/>
                  </a:ext>
                </a:extLst>
              </a:tr>
              <a:tr h="902815">
                <a:tc>
                  <a:txBody>
                    <a:bodyPr/>
                    <a:lstStyle/>
                    <a:p>
                      <a:pPr marL="0" marR="0" lvl="0" indent="0" algn="l"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Brain tumor segmentation using deep learning on </a:t>
                      </a:r>
                      <a:r>
                        <a:rPr lang="en-US" sz="1600" b="0" dirty="0" err="1">
                          <a:latin typeface="Times New Roman" panose="02020603050405020304" pitchFamily="18" charset="0"/>
                          <a:ea typeface="Times New Roman"/>
                          <a:cs typeface="Times New Roman" panose="02020603050405020304" pitchFamily="18" charset="0"/>
                          <a:sym typeface="Times New Roman"/>
                        </a:rPr>
                        <a:t>mri</a:t>
                      </a:r>
                      <a:r>
                        <a:rPr lang="en-US" sz="1600" b="0" dirty="0">
                          <a:latin typeface="Times New Roman" panose="02020603050405020304" pitchFamily="18" charset="0"/>
                          <a:ea typeface="Times New Roman"/>
                          <a:cs typeface="Times New Roman" panose="02020603050405020304" pitchFamily="18" charset="0"/>
                          <a:sym typeface="Times New Roman"/>
                        </a:rPr>
                        <a:t> images</a:t>
                      </a:r>
                    </a:p>
                  </a:txBody>
                  <a:tcPr marL="91450" marR="91450" marT="45725" marB="45725">
                    <a:solidFill>
                      <a:schemeClr val="lt2"/>
                    </a:solidFill>
                  </a:tcPr>
                </a:tc>
                <a:tc>
                  <a:txBody>
                    <a:bodyPr/>
                    <a:lstStyle/>
                    <a:p>
                      <a:pPr marL="0" marR="0" lvl="0" indent="0" algn="l" rtl="0">
                        <a:spcBef>
                          <a:spcPts val="0"/>
                        </a:spcBef>
                        <a:spcAft>
                          <a:spcPts val="0"/>
                        </a:spcAft>
                        <a:buNone/>
                      </a:pPr>
                      <a:r>
                        <a:rPr lang="en-US" sz="1600" b="0" dirty="0" err="1">
                          <a:latin typeface="Times New Roman" panose="02020603050405020304" pitchFamily="18" charset="0"/>
                          <a:ea typeface="Times New Roman"/>
                          <a:cs typeface="Times New Roman" panose="02020603050405020304" pitchFamily="18" charset="0"/>
                          <a:sym typeface="Times New Roman"/>
                        </a:rPr>
                        <a:t>Almetwally</a:t>
                      </a:r>
                      <a:r>
                        <a:rPr lang="en-US" sz="1600" b="0" dirty="0">
                          <a:latin typeface="Times New Roman" panose="02020603050405020304" pitchFamily="18" charset="0"/>
                          <a:ea typeface="Times New Roman"/>
                          <a:cs typeface="Times New Roman" panose="02020603050405020304" pitchFamily="18" charset="0"/>
                          <a:sym typeface="Times New Roman"/>
                        </a:rPr>
                        <a:t> M. Mostafa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ea typeface="Times New Roman"/>
                          <a:cs typeface="Times New Roman" panose="02020603050405020304" pitchFamily="18" charset="0"/>
                          <a:sym typeface="Times New Roman"/>
                        </a:rPr>
                        <a:t>In this system, feature extraction plays a crucial role in segmenting and diagnosing brain tumors (BT) using deep learning models. The convolutional layers of the deep CNN are responsible for automatically extracting features from MRI images</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The dataset used for this brain tumor detection and segmentation system is the </a:t>
                      </a:r>
                      <a:r>
                        <a:rPr lang="en-US" sz="1600" b="0" dirty="0" err="1">
                          <a:latin typeface="Times New Roman" panose="02020603050405020304" pitchFamily="18" charset="0"/>
                          <a:cs typeface="Times New Roman" panose="02020603050405020304" pitchFamily="18" charset="0"/>
                        </a:rPr>
                        <a:t>BraTS</a:t>
                      </a:r>
                      <a:r>
                        <a:rPr lang="en-US" sz="1600" b="0" dirty="0">
                          <a:latin typeface="Times New Roman" panose="02020603050405020304" pitchFamily="18" charset="0"/>
                          <a:cs typeface="Times New Roman" panose="02020603050405020304" pitchFamily="18" charset="0"/>
                        </a:rPr>
                        <a:t> dataset, which contains 335 annotated MRI images of brain tumors.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just" rtl="0">
                        <a:spcBef>
                          <a:spcPts val="0"/>
                        </a:spcBef>
                        <a:spcAft>
                          <a:spcPts val="0"/>
                        </a:spcAft>
                        <a:buNone/>
                      </a:pPr>
                      <a:r>
                        <a:rPr lang="en-US" sz="1600" b="0" dirty="0">
                          <a:latin typeface="Times New Roman" panose="02020603050405020304" pitchFamily="18" charset="0"/>
                          <a:cs typeface="Times New Roman" panose="02020603050405020304" pitchFamily="18" charset="0"/>
                        </a:rPr>
                        <a:t>Although the </a:t>
                      </a:r>
                      <a:r>
                        <a:rPr lang="en-US" sz="1600" b="0" dirty="0" err="1">
                          <a:latin typeface="Times New Roman" panose="02020603050405020304" pitchFamily="18" charset="0"/>
                          <a:cs typeface="Times New Roman" panose="02020603050405020304" pitchFamily="18" charset="0"/>
                        </a:rPr>
                        <a:t>BraTS</a:t>
                      </a:r>
                      <a:r>
                        <a:rPr lang="en-US" sz="1600" b="0" dirty="0">
                          <a:latin typeface="Times New Roman" panose="02020603050405020304" pitchFamily="18" charset="0"/>
                          <a:cs typeface="Times New Roman" panose="02020603050405020304" pitchFamily="18" charset="0"/>
                        </a:rPr>
                        <a:t> dataset provides valuable annotated MRI images, it may still suffer from data imbalance issues. Malignant tumors, which are more complex and varied, may not be as well-represented as benign tumors, leading to biases in model predictions. </a:t>
                      </a:r>
                      <a:endParaRPr sz="1600" b="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extLst>
                  <a:ext uri="{0D108BD9-81ED-4DB2-BD59-A6C34878D82A}">
                    <a16:rowId xmlns:a16="http://schemas.microsoft.com/office/drawing/2014/main" val="593127863"/>
                  </a:ext>
                </a:extLst>
              </a:tr>
            </a:tbl>
          </a:graphicData>
        </a:graphic>
      </p:graphicFrame>
      <p:sp>
        <p:nvSpPr>
          <p:cNvPr id="210" name="Google Shape;210;p8">
            <a:extLst>
              <a:ext uri="{FF2B5EF4-FFF2-40B4-BE49-F238E27FC236}">
                <a16:creationId xmlns:a16="http://schemas.microsoft.com/office/drawing/2014/main" id="{253C31FF-6ABC-1462-187B-94A05328AE7C}"/>
              </a:ext>
            </a:extLst>
          </p:cNvPr>
          <p:cNvSpPr txBox="1"/>
          <p:nvPr/>
        </p:nvSpPr>
        <p:spPr>
          <a:xfrm>
            <a:off x="2146041" y="298580"/>
            <a:ext cx="785637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00B0F0"/>
                </a:solidFill>
                <a:latin typeface="Times New Roman"/>
                <a:ea typeface="Times New Roman"/>
                <a:cs typeface="Times New Roman"/>
                <a:sym typeface="Times New Roman"/>
              </a:rPr>
              <a:t>LITERATURE SURVEY</a:t>
            </a:r>
            <a:endParaRPr/>
          </a:p>
        </p:txBody>
      </p:sp>
    </p:spTree>
    <p:extLst>
      <p:ext uri="{BB962C8B-B14F-4D97-AF65-F5344CB8AC3E}">
        <p14:creationId xmlns:p14="http://schemas.microsoft.com/office/powerpoint/2010/main" val="2168395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SYSTEM REQUIREMENTS </a:t>
            </a:r>
            <a:br>
              <a:rPr lang="en-US" sz="4400" b="1">
                <a:solidFill>
                  <a:srgbClr val="00B0F0"/>
                </a:solidFill>
                <a:latin typeface="Times New Roman"/>
                <a:ea typeface="Times New Roman"/>
                <a:cs typeface="Times New Roman"/>
                <a:sym typeface="Times New Roman"/>
              </a:rPr>
            </a:br>
            <a:endParaRPr/>
          </a:p>
        </p:txBody>
      </p:sp>
      <p:sp>
        <p:nvSpPr>
          <p:cNvPr id="222" name="Google Shape;222;p10"/>
          <p:cNvSpPr txBox="1">
            <a:spLocks noGrp="1"/>
          </p:cNvSpPr>
          <p:nvPr>
            <p:ph type="body" idx="1"/>
          </p:nvPr>
        </p:nvSpPr>
        <p:spPr>
          <a:xfrm>
            <a:off x="643647" y="1027906"/>
            <a:ext cx="10515600" cy="5328444"/>
          </a:xfrm>
          <a:prstGeom prst="rect">
            <a:avLst/>
          </a:prstGeom>
          <a:noFill/>
          <a:ln>
            <a:noFill/>
          </a:ln>
        </p:spPr>
        <p:txBody>
          <a:bodyPr spcFirstLastPara="1" wrap="square" lIns="91425" tIns="45700" rIns="91425" bIns="45700" anchor="t" anchorCtr="0">
            <a:noAutofit/>
          </a:bodyPr>
          <a:lstStyle/>
          <a:p>
            <a:pPr>
              <a:lnSpc>
                <a:spcPct val="150000"/>
              </a:lnSpc>
              <a:buNone/>
            </a:pPr>
            <a:r>
              <a:rPr lang="en-US" sz="1600" b="1" dirty="0">
                <a:latin typeface="Times New Roman" pitchFamily="18" charset="0"/>
                <a:cs typeface="Times New Roman" pitchFamily="18" charset="0"/>
              </a:rPr>
              <a:t>HARDWARE REQUIREMENTS</a:t>
            </a:r>
          </a:p>
          <a:p>
            <a:pPr>
              <a:lnSpc>
                <a:spcPct val="150000"/>
              </a:lnSpc>
              <a:buNone/>
            </a:pP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CPU type                    			:   	Intel core i3 processor</a:t>
            </a:r>
          </a:p>
          <a:p>
            <a:pPr>
              <a:lnSpc>
                <a:spcPct val="150000"/>
              </a:lnSpc>
              <a:buNone/>
            </a:pPr>
            <a:r>
              <a:rPr lang="en-US" sz="1600" dirty="0">
                <a:latin typeface="Times New Roman" pitchFamily="18" charset="0"/>
                <a:cs typeface="Times New Roman" pitchFamily="18" charset="0"/>
              </a:rPr>
              <a:t>           Clock speed                			:    	3.0 GHz</a:t>
            </a:r>
          </a:p>
          <a:p>
            <a:pPr>
              <a:lnSpc>
                <a:spcPct val="150000"/>
              </a:lnSpc>
              <a:buNone/>
            </a:pPr>
            <a:r>
              <a:rPr lang="en-US" sz="1600" dirty="0">
                <a:latin typeface="Times New Roman" pitchFamily="18" charset="0"/>
                <a:cs typeface="Times New Roman" pitchFamily="18" charset="0"/>
              </a:rPr>
              <a:t>           RAM size                                      	  	:	8 GB</a:t>
            </a:r>
          </a:p>
          <a:p>
            <a:pPr>
              <a:lnSpc>
                <a:spcPct val="150000"/>
              </a:lnSpc>
              <a:buNone/>
            </a:pPr>
            <a:r>
              <a:rPr lang="en-US" sz="1600" dirty="0">
                <a:latin typeface="Times New Roman" pitchFamily="18" charset="0"/>
                <a:cs typeface="Times New Roman" pitchFamily="18" charset="0"/>
              </a:rPr>
              <a:t>           Hard disk capacity      			:   	40 GB</a:t>
            </a:r>
          </a:p>
          <a:p>
            <a:pPr>
              <a:lnSpc>
                <a:spcPct val="150000"/>
              </a:lnSpc>
              <a:buNone/>
            </a:pPr>
            <a:r>
              <a:rPr lang="en-US" sz="1600" dirty="0">
                <a:latin typeface="Times New Roman" pitchFamily="18" charset="0"/>
                <a:cs typeface="Times New Roman" pitchFamily="18" charset="0"/>
              </a:rPr>
              <a:t>           Keyboard type            			:    	Internet Keyboard</a:t>
            </a:r>
          </a:p>
          <a:p>
            <a:pPr>
              <a:lnSpc>
                <a:spcPct val="150000"/>
              </a:lnSpc>
              <a:buNone/>
            </a:pPr>
            <a:r>
              <a:rPr lang="en-US" sz="1600" dirty="0">
                <a:latin typeface="Times New Roman" pitchFamily="18" charset="0"/>
                <a:cs typeface="Times New Roman" pitchFamily="18" charset="0"/>
              </a:rPr>
              <a:t>           CD -drive type            			:    	52xmax</a:t>
            </a:r>
          </a:p>
          <a:p>
            <a:pPr>
              <a:lnSpc>
                <a:spcPct val="150000"/>
              </a:lnSpc>
              <a:buNone/>
            </a:pPr>
            <a:r>
              <a:rPr lang="en-US" sz="1600" b="1" dirty="0">
                <a:latin typeface="Times New Roman" pitchFamily="18" charset="0"/>
                <a:cs typeface="Times New Roman" pitchFamily="18" charset="0"/>
              </a:rPr>
              <a:t>SOFTWARE REQUIREMENTS</a:t>
            </a:r>
          </a:p>
          <a:p>
            <a:pPr>
              <a:lnSpc>
                <a:spcPct val="150000"/>
              </a:lnSpc>
              <a:buNone/>
            </a:pPr>
            <a:r>
              <a:rPr lang="en-US" sz="1600" dirty="0">
                <a:latin typeface="Times New Roman" pitchFamily="18" charset="0"/>
                <a:cs typeface="Times New Roman" pitchFamily="18" charset="0"/>
              </a:rPr>
              <a:t>         Operating System			: 	Windows 10 </a:t>
            </a:r>
          </a:p>
          <a:p>
            <a:pPr>
              <a:lnSpc>
                <a:spcPct val="150000"/>
              </a:lnSpc>
              <a:buNone/>
            </a:pPr>
            <a:r>
              <a:rPr lang="en-US" sz="1600" dirty="0">
                <a:latin typeface="Times New Roman" pitchFamily="18" charset="0"/>
                <a:cs typeface="Times New Roman" pitchFamily="18" charset="0"/>
              </a:rPr>
              <a:t>         Front End             			:  	JAVA</a:t>
            </a:r>
          </a:p>
          <a:p>
            <a:pPr marL="228600" lvl="0" indent="-228600" algn="l" rtl="0">
              <a:lnSpc>
                <a:spcPct val="90000"/>
              </a:lnSpc>
              <a:spcBef>
                <a:spcPts val="1000"/>
              </a:spcBef>
              <a:spcAft>
                <a:spcPts val="0"/>
              </a:spcAft>
              <a:buClr>
                <a:schemeClr val="dk1"/>
              </a:buClr>
              <a:buSzPts val="1800"/>
              <a:buFont typeface="Noto Sans Symbols"/>
              <a:buChar char="❑"/>
            </a:pPr>
            <a:endParaRPr sz="2400" dirty="0"/>
          </a:p>
        </p:txBody>
      </p:sp>
      <p:sp>
        <p:nvSpPr>
          <p:cNvPr id="223" name="Google Shape;22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SYSTEM ARCHITECTURE</a:t>
            </a:r>
            <a:endParaRPr sz="2800"/>
          </a:p>
        </p:txBody>
      </p:sp>
      <p:sp>
        <p:nvSpPr>
          <p:cNvPr id="230" name="Google Shape;23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14" name="Group 13">
            <a:extLst>
              <a:ext uri="{FF2B5EF4-FFF2-40B4-BE49-F238E27FC236}">
                <a16:creationId xmlns:a16="http://schemas.microsoft.com/office/drawing/2014/main" id="{9FC2B3FC-BECE-AA16-57DD-C5E963CDB6C4}"/>
              </a:ext>
            </a:extLst>
          </p:cNvPr>
          <p:cNvGrpSpPr>
            <a:grpSpLocks/>
          </p:cNvGrpSpPr>
          <p:nvPr/>
        </p:nvGrpSpPr>
        <p:grpSpPr>
          <a:xfrm>
            <a:off x="2220686" y="1504161"/>
            <a:ext cx="8218713" cy="4988713"/>
            <a:chOff x="0" y="0"/>
            <a:chExt cx="6038850" cy="1894035"/>
          </a:xfrm>
        </p:grpSpPr>
        <p:sp>
          <p:nvSpPr>
            <p:cNvPr id="15" name="Rectangle 14">
              <a:extLst>
                <a:ext uri="{FF2B5EF4-FFF2-40B4-BE49-F238E27FC236}">
                  <a16:creationId xmlns:a16="http://schemas.microsoft.com/office/drawing/2014/main" id="{83D02D20-17B2-7D09-8DED-74D3992C8E22}"/>
                </a:ext>
              </a:extLst>
            </p:cNvPr>
            <p:cNvSpPr/>
            <p:nvPr/>
          </p:nvSpPr>
          <p:spPr>
            <a:xfrm>
              <a:off x="0" y="0"/>
              <a:ext cx="1543050" cy="634963"/>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MRI PREPROCESSING</a:t>
              </a:r>
              <a:endParaRPr lang="en-IN" sz="3600" dirty="0">
                <a:effectLst/>
                <a:ea typeface="Calibri" panose="020F0502020204030204" pitchFamily="34" charset="0"/>
                <a:cs typeface="Times New Roman" panose="02020603050405020304" pitchFamily="18" charset="0"/>
              </a:endParaRPr>
            </a:p>
          </p:txBody>
        </p:sp>
        <p:sp>
          <p:nvSpPr>
            <p:cNvPr id="16" name="Right Arrow 2">
              <a:extLst>
                <a:ext uri="{FF2B5EF4-FFF2-40B4-BE49-F238E27FC236}">
                  <a16:creationId xmlns:a16="http://schemas.microsoft.com/office/drawing/2014/main" id="{35AC4ADE-2299-1A57-3DB1-BF946782FE62}"/>
                </a:ext>
              </a:extLst>
            </p:cNvPr>
            <p:cNvSpPr/>
            <p:nvPr/>
          </p:nvSpPr>
          <p:spPr>
            <a:xfrm>
              <a:off x="1552575" y="209550"/>
              <a:ext cx="390525" cy="266700"/>
            </a:xfrm>
            <a:prstGeom prst="righ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7" name="Rectangle 16">
              <a:extLst>
                <a:ext uri="{FF2B5EF4-FFF2-40B4-BE49-F238E27FC236}">
                  <a16:creationId xmlns:a16="http://schemas.microsoft.com/office/drawing/2014/main" id="{963955FB-CA5E-3B8A-CF43-8FEFF25672D8}"/>
                </a:ext>
              </a:extLst>
            </p:cNvPr>
            <p:cNvSpPr/>
            <p:nvPr/>
          </p:nvSpPr>
          <p:spPr>
            <a:xfrm>
              <a:off x="1971675" y="19050"/>
              <a:ext cx="1504950" cy="6000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BIAS FEATURE EXTRACTION</a:t>
              </a:r>
              <a:endParaRPr lang="en-IN" sz="1600" dirty="0">
                <a:effectLst/>
                <a:ea typeface="Calibri" panose="020F0502020204030204" pitchFamily="34" charset="0"/>
                <a:cs typeface="Times New Roman" panose="02020603050405020304" pitchFamily="18" charset="0"/>
              </a:endParaRPr>
            </a:p>
          </p:txBody>
        </p:sp>
        <p:sp>
          <p:nvSpPr>
            <p:cNvPr id="18" name="Right Arrow 4">
              <a:extLst>
                <a:ext uri="{FF2B5EF4-FFF2-40B4-BE49-F238E27FC236}">
                  <a16:creationId xmlns:a16="http://schemas.microsoft.com/office/drawing/2014/main" id="{63F1B848-BC8D-35DE-0053-89B3D33563BD}"/>
                </a:ext>
              </a:extLst>
            </p:cNvPr>
            <p:cNvSpPr/>
            <p:nvPr/>
          </p:nvSpPr>
          <p:spPr>
            <a:xfrm>
              <a:off x="3505200" y="228600"/>
              <a:ext cx="409575" cy="247650"/>
            </a:xfrm>
            <a:prstGeom prst="righ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9" name="Rectangle 18">
              <a:extLst>
                <a:ext uri="{FF2B5EF4-FFF2-40B4-BE49-F238E27FC236}">
                  <a16:creationId xmlns:a16="http://schemas.microsoft.com/office/drawing/2014/main" id="{AB67E237-A036-8FE7-9159-237556089089}"/>
                </a:ext>
              </a:extLst>
            </p:cNvPr>
            <p:cNvSpPr/>
            <p:nvPr/>
          </p:nvSpPr>
          <p:spPr>
            <a:xfrm>
              <a:off x="3914775" y="66675"/>
              <a:ext cx="1504950" cy="6000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BAT BRAIN TUMOR SEGMENTATION AND CLASSIFICATION FROM NON-TUMOR TISSUE</a:t>
              </a:r>
              <a:endParaRPr lang="en-IN" dirty="0">
                <a:effectLst/>
                <a:ea typeface="Calibri" panose="020F0502020204030204" pitchFamily="34" charset="0"/>
                <a:cs typeface="Times New Roman" panose="02020603050405020304" pitchFamily="18" charset="0"/>
              </a:endParaRPr>
            </a:p>
          </p:txBody>
        </p:sp>
        <p:sp>
          <p:nvSpPr>
            <p:cNvPr id="20" name="Curved Left Arrow 6">
              <a:extLst>
                <a:ext uri="{FF2B5EF4-FFF2-40B4-BE49-F238E27FC236}">
                  <a16:creationId xmlns:a16="http://schemas.microsoft.com/office/drawing/2014/main" id="{ACB764DA-AAFB-707C-290C-62961E1A1BA3}"/>
                </a:ext>
              </a:extLst>
            </p:cNvPr>
            <p:cNvSpPr/>
            <p:nvPr/>
          </p:nvSpPr>
          <p:spPr>
            <a:xfrm>
              <a:off x="5419725" y="304800"/>
              <a:ext cx="619125" cy="1323975"/>
            </a:xfrm>
            <a:prstGeom prst="curvedLef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1" name="Rounded Rectangle 7">
              <a:extLst>
                <a:ext uri="{FF2B5EF4-FFF2-40B4-BE49-F238E27FC236}">
                  <a16:creationId xmlns:a16="http://schemas.microsoft.com/office/drawing/2014/main" id="{D766661E-83A0-90DD-AC92-3D32F612E8E3}"/>
                </a:ext>
              </a:extLst>
            </p:cNvPr>
            <p:cNvSpPr/>
            <p:nvPr/>
          </p:nvSpPr>
          <p:spPr>
            <a:xfrm>
              <a:off x="3105694" y="1247775"/>
              <a:ext cx="2314030" cy="58102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GREY LEVEL CO-OCCURRENCE MATRIX (GLCM) HOMOMORPHIC ALGORITHM FOR SEGMENATATION IS AS FOLLOWS</a:t>
              </a:r>
              <a:endParaRPr lang="en-IN" dirty="0">
                <a:effectLst/>
                <a:ea typeface="Calibri" panose="020F0502020204030204" pitchFamily="34" charset="0"/>
                <a:cs typeface="Times New Roman" panose="02020603050405020304" pitchFamily="18" charset="0"/>
              </a:endParaRPr>
            </a:p>
          </p:txBody>
        </p:sp>
        <p:sp>
          <p:nvSpPr>
            <p:cNvPr id="22" name="Left Arrow 8">
              <a:extLst>
                <a:ext uri="{FF2B5EF4-FFF2-40B4-BE49-F238E27FC236}">
                  <a16:creationId xmlns:a16="http://schemas.microsoft.com/office/drawing/2014/main" id="{675C9CA6-0AA7-094B-21D9-50E4323DB394}"/>
                </a:ext>
              </a:extLst>
            </p:cNvPr>
            <p:cNvSpPr/>
            <p:nvPr/>
          </p:nvSpPr>
          <p:spPr>
            <a:xfrm>
              <a:off x="2574402" y="1371600"/>
              <a:ext cx="466726" cy="285750"/>
            </a:xfrm>
            <a:prstGeom prst="leftArrow">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23" name="Rounded Rectangle 9">
              <a:extLst>
                <a:ext uri="{FF2B5EF4-FFF2-40B4-BE49-F238E27FC236}">
                  <a16:creationId xmlns:a16="http://schemas.microsoft.com/office/drawing/2014/main" id="{1BEE3F2F-8ABD-C99C-6147-3B4453AD1680}"/>
                </a:ext>
              </a:extLst>
            </p:cNvPr>
            <p:cNvSpPr/>
            <p:nvPr/>
          </p:nvSpPr>
          <p:spPr>
            <a:xfrm>
              <a:off x="647020" y="1217760"/>
              <a:ext cx="1891256" cy="67627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BAT BRAIN TUMOR SEGMENTATION USING STRUCTURE PREDICTION</a:t>
              </a:r>
              <a:endParaRPr lang="en-IN" sz="1600" dirty="0">
                <a:effectLst/>
                <a:ea typeface="Calibri" panose="020F0502020204030204" pitchFamily="34" charset="0"/>
                <a:cs typeface="Times New Roman" panose="02020603050405020304" pitchFamily="18"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DATA FLOW DIAGRAM</a:t>
            </a:r>
            <a:endParaRPr sz="2800"/>
          </a:p>
        </p:txBody>
      </p:sp>
      <p:sp>
        <p:nvSpPr>
          <p:cNvPr id="236" name="Google Shape;236;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dirty="0"/>
          </a:p>
        </p:txBody>
      </p:sp>
      <p:sp>
        <p:nvSpPr>
          <p:cNvPr id="237" name="Google Shape;23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EDECDD93-164D-312C-3947-6E3956C7F11D}"/>
              </a:ext>
            </a:extLst>
          </p:cNvPr>
          <p:cNvGrpSpPr>
            <a:grpSpLocks/>
          </p:cNvGrpSpPr>
          <p:nvPr/>
        </p:nvGrpSpPr>
        <p:grpSpPr>
          <a:xfrm>
            <a:off x="1409700" y="1690688"/>
            <a:ext cx="9372600" cy="4195761"/>
            <a:chOff x="0" y="0"/>
            <a:chExt cx="4382135" cy="3579495"/>
          </a:xfrm>
        </p:grpSpPr>
        <p:sp>
          <p:nvSpPr>
            <p:cNvPr id="3" name="Text Box 9">
              <a:extLst>
                <a:ext uri="{FF2B5EF4-FFF2-40B4-BE49-F238E27FC236}">
                  <a16:creationId xmlns:a16="http://schemas.microsoft.com/office/drawing/2014/main" id="{54AD5A83-6834-7669-9C04-E15DBE261F1E}"/>
                </a:ext>
              </a:extLst>
            </p:cNvPr>
            <p:cNvSpPr txBox="1">
              <a:spLocks/>
            </p:cNvSpPr>
            <p:nvPr/>
          </p:nvSpPr>
          <p:spPr>
            <a:xfrm>
              <a:off x="0" y="2057400"/>
              <a:ext cx="1560195" cy="56705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BRAIN TUMOR DETECTIOR</a:t>
              </a:r>
              <a:endParaRPr lang="en-US" sz="2000" dirty="0">
                <a:effectLst/>
                <a:ea typeface="Calibri" panose="020F0502020204030204" pitchFamily="34" charset="0"/>
                <a:cs typeface="Times New Roman" panose="02020603050405020304" pitchFamily="18" charset="0"/>
              </a:endParaRPr>
            </a:p>
          </p:txBody>
        </p:sp>
        <p:sp>
          <p:nvSpPr>
            <p:cNvPr id="4" name="Text Box 12">
              <a:extLst>
                <a:ext uri="{FF2B5EF4-FFF2-40B4-BE49-F238E27FC236}">
                  <a16:creationId xmlns:a16="http://schemas.microsoft.com/office/drawing/2014/main" id="{427F7328-EC0B-E55C-C239-902656C7650A}"/>
                </a:ext>
              </a:extLst>
            </p:cNvPr>
            <p:cNvSpPr txBox="1">
              <a:spLocks/>
            </p:cNvSpPr>
            <p:nvPr/>
          </p:nvSpPr>
          <p:spPr>
            <a:xfrm>
              <a:off x="2819400" y="3048000"/>
              <a:ext cx="1562735" cy="531495"/>
            </a:xfrm>
            <a:prstGeom prst="ellipse">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TUMOR DETECTION</a:t>
              </a:r>
              <a:endParaRPr lang="en-US" sz="2000" dirty="0">
                <a:effectLst/>
                <a:ea typeface="Calibri" panose="020F0502020204030204" pitchFamily="34" charset="0"/>
                <a:cs typeface="Times New Roman" panose="02020603050405020304" pitchFamily="18" charset="0"/>
              </a:endParaRPr>
            </a:p>
          </p:txBody>
        </p:sp>
        <p:sp>
          <p:nvSpPr>
            <p:cNvPr id="5" name="Text Box 14">
              <a:extLst>
                <a:ext uri="{FF2B5EF4-FFF2-40B4-BE49-F238E27FC236}">
                  <a16:creationId xmlns:a16="http://schemas.microsoft.com/office/drawing/2014/main" id="{7B69F07C-53DD-F093-BF21-658C5EAD56F3}"/>
                </a:ext>
              </a:extLst>
            </p:cNvPr>
            <p:cNvSpPr txBox="1">
              <a:spLocks/>
            </p:cNvSpPr>
            <p:nvPr/>
          </p:nvSpPr>
          <p:spPr>
            <a:xfrm>
              <a:off x="2762250" y="1951355"/>
              <a:ext cx="1619885" cy="780415"/>
            </a:xfrm>
            <a:prstGeom prst="ellipse">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TUMOR IDENTIFICATION</a:t>
              </a:r>
              <a:endParaRPr lang="en-US" sz="2000" dirty="0">
                <a:effectLst/>
                <a:ea typeface="Calibri" panose="020F0502020204030204" pitchFamily="34" charset="0"/>
                <a:cs typeface="Times New Roman" panose="02020603050405020304" pitchFamily="18" charset="0"/>
              </a:endParaRPr>
            </a:p>
          </p:txBody>
        </p:sp>
        <p:sp>
          <p:nvSpPr>
            <p:cNvPr id="6" name="Text Box 15">
              <a:extLst>
                <a:ext uri="{FF2B5EF4-FFF2-40B4-BE49-F238E27FC236}">
                  <a16:creationId xmlns:a16="http://schemas.microsoft.com/office/drawing/2014/main" id="{201B0FB9-ADF0-5773-E6BC-D9A64B7046B1}"/>
                </a:ext>
              </a:extLst>
            </p:cNvPr>
            <p:cNvSpPr txBox="1">
              <a:spLocks/>
            </p:cNvSpPr>
            <p:nvPr/>
          </p:nvSpPr>
          <p:spPr>
            <a:xfrm>
              <a:off x="2762250" y="0"/>
              <a:ext cx="1560195" cy="574040"/>
            </a:xfrm>
            <a:prstGeom prst="ellipse">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PREPROCESSING</a:t>
              </a:r>
              <a:endParaRPr lang="en-US" sz="2000" dirty="0">
                <a:effectLst/>
                <a:ea typeface="Calibri" panose="020F0502020204030204" pitchFamily="34" charset="0"/>
                <a:cs typeface="Times New Roman" panose="02020603050405020304" pitchFamily="18" charset="0"/>
              </a:endParaRPr>
            </a:p>
          </p:txBody>
        </p:sp>
        <p:sp>
          <p:nvSpPr>
            <p:cNvPr id="7" name="Text Box 17">
              <a:extLst>
                <a:ext uri="{FF2B5EF4-FFF2-40B4-BE49-F238E27FC236}">
                  <a16:creationId xmlns:a16="http://schemas.microsoft.com/office/drawing/2014/main" id="{34CA57ED-138F-FC85-D5D4-6844E4BF5B50}"/>
                </a:ext>
              </a:extLst>
            </p:cNvPr>
            <p:cNvSpPr txBox="1">
              <a:spLocks/>
            </p:cNvSpPr>
            <p:nvPr/>
          </p:nvSpPr>
          <p:spPr>
            <a:xfrm>
              <a:off x="2762250" y="1028700"/>
              <a:ext cx="1560195" cy="584835"/>
            </a:xfrm>
            <a:prstGeom prst="ellipse">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SEGMENTATION</a:t>
              </a:r>
              <a:endParaRPr lang="en-US" sz="2000" dirty="0">
                <a:effectLst/>
                <a:ea typeface="Calibri" panose="020F0502020204030204" pitchFamily="34"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25E3662-3F8D-C610-E632-661B2AC06B7F}"/>
                </a:ext>
              </a:extLst>
            </p:cNvPr>
            <p:cNvCxnSpPr>
              <a:cxnSpLocks/>
            </p:cNvCxnSpPr>
            <p:nvPr/>
          </p:nvCxnSpPr>
          <p:spPr>
            <a:xfrm flipV="1">
              <a:off x="1562100" y="304800"/>
              <a:ext cx="1203960" cy="20097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07CF027-FAAC-0371-6A7A-74DEB1F3165D}"/>
                </a:ext>
              </a:extLst>
            </p:cNvPr>
            <p:cNvCxnSpPr>
              <a:cxnSpLocks/>
            </p:cNvCxnSpPr>
            <p:nvPr/>
          </p:nvCxnSpPr>
          <p:spPr>
            <a:xfrm flipV="1">
              <a:off x="1562100" y="1428750"/>
              <a:ext cx="1201420" cy="90297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98646DA-9A39-5355-C643-4B449DF4CDA8}"/>
                </a:ext>
              </a:extLst>
            </p:cNvPr>
            <p:cNvCxnSpPr>
              <a:cxnSpLocks/>
            </p:cNvCxnSpPr>
            <p:nvPr/>
          </p:nvCxnSpPr>
          <p:spPr>
            <a:xfrm flipV="1">
              <a:off x="1562100" y="2324100"/>
              <a:ext cx="1201420" cy="63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FE9B2FD-0711-3012-FBA2-8E1175D71BE4}"/>
                </a:ext>
              </a:extLst>
            </p:cNvPr>
            <p:cNvCxnSpPr>
              <a:cxnSpLocks/>
            </p:cNvCxnSpPr>
            <p:nvPr/>
          </p:nvCxnSpPr>
          <p:spPr>
            <a:xfrm>
              <a:off x="1562100" y="2324100"/>
              <a:ext cx="1329055" cy="882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dirty="0">
                <a:solidFill>
                  <a:srgbClr val="00B0F0"/>
                </a:solidFill>
                <a:latin typeface="Times New Roman"/>
                <a:ea typeface="Times New Roman"/>
                <a:cs typeface="Times New Roman"/>
                <a:sym typeface="Times New Roman"/>
              </a:rPr>
              <a:t>MODULES</a:t>
            </a:r>
            <a:endParaRPr sz="2800" dirty="0"/>
          </a:p>
        </p:txBody>
      </p:sp>
      <p:sp>
        <p:nvSpPr>
          <p:cNvPr id="243" name="Google Shape;24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MRI PREPROCESSING: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algn="just">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Preprocessing images commonly involves removing low frequency, background noise, normalizing the intensity of individual practical images, removing reflections and masking portion of images. Image processing is the technique of enhancing data images prior to computational processing. Following standard preprocessing steps for brain MRI, the corresponding fractal and intensity features are extracted. In the next step, different combinations of feature sets are exploited for tumor segmentation and classification. Feature values are then directly fed to the AdaBoost classifier for classification of tumor and non-tumor regions. Manual labeling to tumor regions is performed for supervised classifier training. The trained classifiers are then used to detect the tumor or no tumor segments in unknown brain MRI.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lvl="0" indent="-50800" algn="l" rtl="0">
              <a:lnSpc>
                <a:spcPct val="90000"/>
              </a:lnSpc>
              <a:spcBef>
                <a:spcPts val="0"/>
              </a:spcBef>
              <a:spcAft>
                <a:spcPts val="0"/>
              </a:spcAft>
              <a:buClr>
                <a:schemeClr val="dk1"/>
              </a:buClr>
              <a:buSzPts val="2800"/>
              <a:buNone/>
            </a:pPr>
            <a:endParaRPr dirty="0"/>
          </a:p>
        </p:txBody>
      </p:sp>
      <p:sp>
        <p:nvSpPr>
          <p:cNvPr id="244" name="Google Shape;2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A1403420-6479-CFBB-1CD2-94720C596E89}"/>
            </a:ext>
          </a:extLst>
        </p:cNvPr>
        <p:cNvGrpSpPr/>
        <p:nvPr/>
      </p:nvGrpSpPr>
      <p:grpSpPr>
        <a:xfrm>
          <a:off x="0" y="0"/>
          <a:ext cx="0" cy="0"/>
          <a:chOff x="0" y="0"/>
          <a:chExt cx="0" cy="0"/>
        </a:xfrm>
      </p:grpSpPr>
      <p:sp>
        <p:nvSpPr>
          <p:cNvPr id="242" name="Google Shape;242;p13">
            <a:extLst>
              <a:ext uri="{FF2B5EF4-FFF2-40B4-BE49-F238E27FC236}">
                <a16:creationId xmlns:a16="http://schemas.microsoft.com/office/drawing/2014/main" id="{1A02BC39-AF02-8997-F206-A7C5E6E16A2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dirty="0">
                <a:solidFill>
                  <a:srgbClr val="00B0F0"/>
                </a:solidFill>
                <a:latin typeface="Times New Roman"/>
                <a:ea typeface="Times New Roman"/>
                <a:cs typeface="Times New Roman"/>
                <a:sym typeface="Times New Roman"/>
              </a:rPr>
              <a:t>MODULES</a:t>
            </a:r>
            <a:endParaRPr sz="2800" dirty="0"/>
          </a:p>
        </p:txBody>
      </p:sp>
      <p:sp>
        <p:nvSpPr>
          <p:cNvPr id="243" name="Google Shape;243;p13">
            <a:extLst>
              <a:ext uri="{FF2B5EF4-FFF2-40B4-BE49-F238E27FC236}">
                <a16:creationId xmlns:a16="http://schemas.microsoft.com/office/drawing/2014/main" id="{1B1B5385-9E33-A119-28DD-6A0914159822}"/>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marR="0" algn="just">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BIAS FEATURE EXTRACTION: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Feature extraction is a special form of Dimensionality reduction. When the input data to an Algorithm is too large to be processed and it is suspected to be notoriously redundant (e.g. the same measurement in both feet and meters) then the input data will be transformed into a reduced representation set of features (also named features vector). Transforming the input data into the set of features is called feature extraction. If the features extracted are carefully chosen it is expected that the features set will extract the relevant information from the input data in order to perform the desired task using this reduced representation instead of the full size input.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lvl="0" indent="-50800" algn="l" rtl="0">
              <a:lnSpc>
                <a:spcPct val="90000"/>
              </a:lnSpc>
              <a:spcBef>
                <a:spcPts val="0"/>
              </a:spcBef>
              <a:spcAft>
                <a:spcPts val="0"/>
              </a:spcAft>
              <a:buClr>
                <a:schemeClr val="dk1"/>
              </a:buClr>
              <a:buSzPts val="2800"/>
              <a:buNone/>
            </a:pPr>
            <a:endParaRPr dirty="0"/>
          </a:p>
        </p:txBody>
      </p:sp>
      <p:sp>
        <p:nvSpPr>
          <p:cNvPr id="244" name="Google Shape;244;p13">
            <a:extLst>
              <a:ext uri="{FF2B5EF4-FFF2-40B4-BE49-F238E27FC236}">
                <a16:creationId xmlns:a16="http://schemas.microsoft.com/office/drawing/2014/main" id="{7BAC6223-7A70-7E27-F85E-DC5AA642196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032435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4400"/>
              <a:buFont typeface="Times New Roman"/>
              <a:buNone/>
            </a:pPr>
            <a:r>
              <a:rPr lang="en-US" sz="4400" b="1">
                <a:solidFill>
                  <a:srgbClr val="00B0F0"/>
                </a:solidFill>
                <a:latin typeface="Times New Roman"/>
                <a:ea typeface="Times New Roman"/>
                <a:cs typeface="Times New Roman"/>
                <a:sym typeface="Times New Roman"/>
              </a:rPr>
              <a:t>MODULE DESCRIPTION</a:t>
            </a:r>
            <a:endParaRPr/>
          </a:p>
        </p:txBody>
      </p:sp>
      <p:sp>
        <p:nvSpPr>
          <p:cNvPr id="250" name="Google Shape;250;p14"/>
          <p:cNvSpPr txBox="1">
            <a:spLocks noGrp="1"/>
          </p:cNvSpPr>
          <p:nvPr>
            <p:ph type="body" idx="1"/>
          </p:nvPr>
        </p:nvSpPr>
        <p:spPr>
          <a:xfrm>
            <a:off x="838200" y="1500188"/>
            <a:ext cx="10515600" cy="4676775"/>
          </a:xfrm>
          <a:prstGeom prst="rect">
            <a:avLst/>
          </a:prstGeom>
          <a:noFill/>
          <a:ln>
            <a:noFill/>
          </a:ln>
        </p:spPr>
        <p:txBody>
          <a:bodyPr spcFirstLastPara="1" wrap="square" lIns="91425" tIns="45700" rIns="91425" bIns="45700" anchor="t" anchorCtr="0">
            <a:normAutofit/>
          </a:bodyPr>
          <a:lstStyle/>
          <a:p>
            <a:pPr lvl="0" algn="just">
              <a:lnSpc>
                <a:spcPct val="150000"/>
              </a:lnSpc>
            </a:pPr>
            <a:r>
              <a:rPr lang="en-US" sz="1600" dirty="0">
                <a:effectLst/>
                <a:latin typeface="Times New Roman" panose="02020603050405020304" pitchFamily="18" charset="0"/>
                <a:ea typeface="Times New Roman" panose="02020603050405020304" pitchFamily="18" charset="0"/>
              </a:rPr>
              <a:t>MRI PREPROCESSING</a:t>
            </a:r>
          </a:p>
          <a:p>
            <a:pPr lvl="0" algn="just">
              <a:lnSpc>
                <a:spcPct val="150000"/>
              </a:lnSpc>
            </a:pPr>
            <a:r>
              <a:rPr lang="en-US" sz="1600" dirty="0">
                <a:effectLst/>
                <a:latin typeface="Times New Roman" panose="02020603050405020304" pitchFamily="18" charset="0"/>
                <a:ea typeface="Times New Roman" panose="02020603050405020304" pitchFamily="18" charset="0"/>
              </a:rPr>
              <a:t>BIAS FEATURE EXTRACTION</a:t>
            </a:r>
            <a:endParaRPr lang="en-US" sz="1600" dirty="0">
              <a:latin typeface="Times New Roman" panose="02020603050405020304" pitchFamily="18" charset="0"/>
              <a:ea typeface="Times New Roman" panose="02020603050405020304" pitchFamily="18" charset="0"/>
            </a:endParaRPr>
          </a:p>
          <a:p>
            <a:pPr lvl="0" algn="just">
              <a:lnSpc>
                <a:spcPct val="150000"/>
              </a:lnSpc>
            </a:pPr>
            <a:r>
              <a:rPr lang="en-US" sz="1600" dirty="0">
                <a:effectLst/>
                <a:latin typeface="Times New Roman" panose="02020603050405020304" pitchFamily="18" charset="0"/>
                <a:ea typeface="Times New Roman" panose="02020603050405020304" pitchFamily="18" charset="0"/>
              </a:rPr>
              <a:t>BAT BRAIN TUMOR SEGMENTATION AND CLASSIFICATION FROM NON-TUMOR TISSUE</a:t>
            </a:r>
          </a:p>
          <a:p>
            <a:pPr algn="just">
              <a:lnSpc>
                <a:spcPct val="15000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GREY LEVEL CO-OCCURRENCE MATRIX (GLCM) HOMOMORPHIC ALGORITHM FOR SEGMENATATION IS AS FOLLOWS</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BAT BRAIN TUMOR SEGMENTATION USING STRUCTURE PREDICTION</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51" name="Google Shape;25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SCREENSHOT</a:t>
            </a:r>
            <a:endParaRPr sz="2800"/>
          </a:p>
        </p:txBody>
      </p:sp>
      <p:sp>
        <p:nvSpPr>
          <p:cNvPr id="257" name="Google Shape;25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58" name="Google Shape;25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5" name="Picture 4">
            <a:extLst>
              <a:ext uri="{FF2B5EF4-FFF2-40B4-BE49-F238E27FC236}">
                <a16:creationId xmlns:a16="http://schemas.microsoft.com/office/drawing/2014/main" id="{C3879548-C9CF-E104-CE93-48B0FF149F06}"/>
              </a:ext>
            </a:extLst>
          </p:cNvPr>
          <p:cNvPicPr>
            <a:picLocks noChangeAspect="1"/>
          </p:cNvPicPr>
          <p:nvPr/>
        </p:nvPicPr>
        <p:blipFill>
          <a:blip r:embed="rId3"/>
          <a:stretch>
            <a:fillRect/>
          </a:stretch>
        </p:blipFill>
        <p:spPr>
          <a:xfrm>
            <a:off x="3296312" y="1836511"/>
            <a:ext cx="5925946" cy="43513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F5C46A19-F7B4-27F3-8491-3E0617C2B250}"/>
            </a:ext>
          </a:extLst>
        </p:cNvPr>
        <p:cNvGrpSpPr/>
        <p:nvPr/>
      </p:nvGrpSpPr>
      <p:grpSpPr>
        <a:xfrm>
          <a:off x="0" y="0"/>
          <a:ext cx="0" cy="0"/>
          <a:chOff x="0" y="0"/>
          <a:chExt cx="0" cy="0"/>
        </a:xfrm>
      </p:grpSpPr>
      <p:sp>
        <p:nvSpPr>
          <p:cNvPr id="256" name="Google Shape;256;p15">
            <a:extLst>
              <a:ext uri="{FF2B5EF4-FFF2-40B4-BE49-F238E27FC236}">
                <a16:creationId xmlns:a16="http://schemas.microsoft.com/office/drawing/2014/main" id="{7720837F-6F52-BB44-AE8F-46D0E01DD9E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SCREENSHOT</a:t>
            </a:r>
            <a:endParaRPr sz="2800"/>
          </a:p>
        </p:txBody>
      </p:sp>
      <p:sp>
        <p:nvSpPr>
          <p:cNvPr id="257" name="Google Shape;257;p15">
            <a:extLst>
              <a:ext uri="{FF2B5EF4-FFF2-40B4-BE49-F238E27FC236}">
                <a16:creationId xmlns:a16="http://schemas.microsoft.com/office/drawing/2014/main" id="{9CEFD4A2-0F5A-ECBD-6CE5-1D6E192D657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58" name="Google Shape;258;p15">
            <a:extLst>
              <a:ext uri="{FF2B5EF4-FFF2-40B4-BE49-F238E27FC236}">
                <a16:creationId xmlns:a16="http://schemas.microsoft.com/office/drawing/2014/main" id="{60F1687A-D7A1-5374-9602-B7DDC3E0077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5" name="Picture 4">
            <a:extLst>
              <a:ext uri="{FF2B5EF4-FFF2-40B4-BE49-F238E27FC236}">
                <a16:creationId xmlns:a16="http://schemas.microsoft.com/office/drawing/2014/main" id="{DB4795C2-E025-443B-8413-ADD9BC9B5C9A}"/>
              </a:ext>
            </a:extLst>
          </p:cNvPr>
          <p:cNvPicPr>
            <a:picLocks noChangeAspect="1"/>
          </p:cNvPicPr>
          <p:nvPr/>
        </p:nvPicPr>
        <p:blipFill>
          <a:blip r:embed="rId3"/>
          <a:stretch>
            <a:fillRect/>
          </a:stretch>
        </p:blipFill>
        <p:spPr>
          <a:xfrm>
            <a:off x="3287486" y="1736726"/>
            <a:ext cx="5791729" cy="3721221"/>
          </a:xfrm>
          <a:prstGeom prst="rect">
            <a:avLst/>
          </a:prstGeom>
        </p:spPr>
      </p:pic>
      <p:pic>
        <p:nvPicPr>
          <p:cNvPr id="7" name="Picture 6">
            <a:extLst>
              <a:ext uri="{FF2B5EF4-FFF2-40B4-BE49-F238E27FC236}">
                <a16:creationId xmlns:a16="http://schemas.microsoft.com/office/drawing/2014/main" id="{A5A3306E-16F0-BC35-639A-E9244399DFE8}"/>
              </a:ext>
            </a:extLst>
          </p:cNvPr>
          <p:cNvPicPr>
            <a:picLocks noChangeAspect="1"/>
          </p:cNvPicPr>
          <p:nvPr/>
        </p:nvPicPr>
        <p:blipFill>
          <a:blip r:embed="rId4"/>
          <a:stretch>
            <a:fillRect/>
          </a:stretch>
        </p:blipFill>
        <p:spPr>
          <a:xfrm>
            <a:off x="3287486" y="4162134"/>
            <a:ext cx="5791729" cy="4029657"/>
          </a:xfrm>
          <a:prstGeom prst="rect">
            <a:avLst/>
          </a:prstGeom>
        </p:spPr>
      </p:pic>
    </p:spTree>
    <p:extLst>
      <p:ext uri="{BB962C8B-B14F-4D97-AF65-F5344CB8AC3E}">
        <p14:creationId xmlns:p14="http://schemas.microsoft.com/office/powerpoint/2010/main" val="3282127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465A8183-1226-513F-C967-D79666247B96}"/>
            </a:ext>
          </a:extLst>
        </p:cNvPr>
        <p:cNvGrpSpPr/>
        <p:nvPr/>
      </p:nvGrpSpPr>
      <p:grpSpPr>
        <a:xfrm>
          <a:off x="0" y="0"/>
          <a:ext cx="0" cy="0"/>
          <a:chOff x="0" y="0"/>
          <a:chExt cx="0" cy="0"/>
        </a:xfrm>
      </p:grpSpPr>
      <p:sp>
        <p:nvSpPr>
          <p:cNvPr id="256" name="Google Shape;256;p15">
            <a:extLst>
              <a:ext uri="{FF2B5EF4-FFF2-40B4-BE49-F238E27FC236}">
                <a16:creationId xmlns:a16="http://schemas.microsoft.com/office/drawing/2014/main" id="{2599B96D-E963-D91F-9B32-44430B6CFB72}"/>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SCREENSHOT</a:t>
            </a:r>
            <a:endParaRPr sz="2800"/>
          </a:p>
        </p:txBody>
      </p:sp>
      <p:sp>
        <p:nvSpPr>
          <p:cNvPr id="257" name="Google Shape;257;p15">
            <a:extLst>
              <a:ext uri="{FF2B5EF4-FFF2-40B4-BE49-F238E27FC236}">
                <a16:creationId xmlns:a16="http://schemas.microsoft.com/office/drawing/2014/main" id="{F12603A1-88CC-422A-C6C7-457ABC3D62B0}"/>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58" name="Google Shape;258;p15">
            <a:extLst>
              <a:ext uri="{FF2B5EF4-FFF2-40B4-BE49-F238E27FC236}">
                <a16:creationId xmlns:a16="http://schemas.microsoft.com/office/drawing/2014/main" id="{BB7038BD-F731-16E4-EC8A-7FA7BE9E332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3" name="Picture 2">
            <a:extLst>
              <a:ext uri="{FF2B5EF4-FFF2-40B4-BE49-F238E27FC236}">
                <a16:creationId xmlns:a16="http://schemas.microsoft.com/office/drawing/2014/main" id="{0060BD51-9504-8E6F-8CF3-93850640221C}"/>
              </a:ext>
            </a:extLst>
          </p:cNvPr>
          <p:cNvPicPr>
            <a:picLocks noChangeAspect="1"/>
          </p:cNvPicPr>
          <p:nvPr/>
        </p:nvPicPr>
        <p:blipFill>
          <a:blip r:embed="rId3"/>
          <a:stretch>
            <a:fillRect/>
          </a:stretch>
        </p:blipFill>
        <p:spPr>
          <a:xfrm>
            <a:off x="2370663" y="1543501"/>
            <a:ext cx="7611537" cy="4915586"/>
          </a:xfrm>
          <a:prstGeom prst="rect">
            <a:avLst/>
          </a:prstGeom>
        </p:spPr>
      </p:pic>
    </p:spTree>
    <p:extLst>
      <p:ext uri="{BB962C8B-B14F-4D97-AF65-F5344CB8AC3E}">
        <p14:creationId xmlns:p14="http://schemas.microsoft.com/office/powerpoint/2010/main" val="1720173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00A595BF-2B21-34C0-6927-03E189788F88}"/>
            </a:ext>
          </a:extLst>
        </p:cNvPr>
        <p:cNvGrpSpPr/>
        <p:nvPr/>
      </p:nvGrpSpPr>
      <p:grpSpPr>
        <a:xfrm>
          <a:off x="0" y="0"/>
          <a:ext cx="0" cy="0"/>
          <a:chOff x="0" y="0"/>
          <a:chExt cx="0" cy="0"/>
        </a:xfrm>
      </p:grpSpPr>
      <p:sp>
        <p:nvSpPr>
          <p:cNvPr id="256" name="Google Shape;256;p15">
            <a:extLst>
              <a:ext uri="{FF2B5EF4-FFF2-40B4-BE49-F238E27FC236}">
                <a16:creationId xmlns:a16="http://schemas.microsoft.com/office/drawing/2014/main" id="{E9FD7854-11DC-FBAD-C421-C8ECA235DC03}"/>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SCREENSHOT</a:t>
            </a:r>
            <a:endParaRPr sz="2800"/>
          </a:p>
        </p:txBody>
      </p:sp>
      <p:sp>
        <p:nvSpPr>
          <p:cNvPr id="257" name="Google Shape;257;p15">
            <a:extLst>
              <a:ext uri="{FF2B5EF4-FFF2-40B4-BE49-F238E27FC236}">
                <a16:creationId xmlns:a16="http://schemas.microsoft.com/office/drawing/2014/main" id="{38BC652D-F855-4DA8-EAD4-9F5D19E50C57}"/>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58" name="Google Shape;258;p15">
            <a:extLst>
              <a:ext uri="{FF2B5EF4-FFF2-40B4-BE49-F238E27FC236}">
                <a16:creationId xmlns:a16="http://schemas.microsoft.com/office/drawing/2014/main" id="{289CCBBF-447E-FD50-458F-0AA8B28BCA3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 name="Picture 3">
            <a:extLst>
              <a:ext uri="{FF2B5EF4-FFF2-40B4-BE49-F238E27FC236}">
                <a16:creationId xmlns:a16="http://schemas.microsoft.com/office/drawing/2014/main" id="{2C481BB0-488B-7EFE-8984-422DB7301302}"/>
              </a:ext>
            </a:extLst>
          </p:cNvPr>
          <p:cNvPicPr>
            <a:picLocks noChangeAspect="1"/>
          </p:cNvPicPr>
          <p:nvPr/>
        </p:nvPicPr>
        <p:blipFill>
          <a:blip r:embed="rId3"/>
          <a:stretch>
            <a:fillRect/>
          </a:stretch>
        </p:blipFill>
        <p:spPr>
          <a:xfrm>
            <a:off x="838200" y="2042005"/>
            <a:ext cx="5411291" cy="3910398"/>
          </a:xfrm>
          <a:prstGeom prst="rect">
            <a:avLst/>
          </a:prstGeom>
        </p:spPr>
      </p:pic>
      <p:pic>
        <p:nvPicPr>
          <p:cNvPr id="6" name="Picture 5">
            <a:extLst>
              <a:ext uri="{FF2B5EF4-FFF2-40B4-BE49-F238E27FC236}">
                <a16:creationId xmlns:a16="http://schemas.microsoft.com/office/drawing/2014/main" id="{C4EBDC31-548F-16BC-FFD3-5CF51BF472DD}"/>
              </a:ext>
            </a:extLst>
          </p:cNvPr>
          <p:cNvPicPr>
            <a:picLocks noChangeAspect="1"/>
          </p:cNvPicPr>
          <p:nvPr/>
        </p:nvPicPr>
        <p:blipFill>
          <a:blip r:embed="rId4"/>
          <a:stretch>
            <a:fillRect/>
          </a:stretch>
        </p:blipFill>
        <p:spPr>
          <a:xfrm>
            <a:off x="6199895" y="2041618"/>
            <a:ext cx="5153905" cy="3910785"/>
          </a:xfrm>
          <a:prstGeom prst="rect">
            <a:avLst/>
          </a:prstGeom>
        </p:spPr>
      </p:pic>
    </p:spTree>
    <p:extLst>
      <p:ext uri="{BB962C8B-B14F-4D97-AF65-F5344CB8AC3E}">
        <p14:creationId xmlns:p14="http://schemas.microsoft.com/office/powerpoint/2010/main" val="372490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91727F12-52C3-0E63-4106-E11CF6A7D490}"/>
            </a:ext>
          </a:extLst>
        </p:cNvPr>
        <p:cNvGrpSpPr/>
        <p:nvPr/>
      </p:nvGrpSpPr>
      <p:grpSpPr>
        <a:xfrm>
          <a:off x="0" y="0"/>
          <a:ext cx="0" cy="0"/>
          <a:chOff x="0" y="0"/>
          <a:chExt cx="0" cy="0"/>
        </a:xfrm>
      </p:grpSpPr>
      <p:sp>
        <p:nvSpPr>
          <p:cNvPr id="256" name="Google Shape;256;p15">
            <a:extLst>
              <a:ext uri="{FF2B5EF4-FFF2-40B4-BE49-F238E27FC236}">
                <a16:creationId xmlns:a16="http://schemas.microsoft.com/office/drawing/2014/main" id="{C8CBF723-D0EA-3183-557D-25E32F6F03C4}"/>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SCREENSHOT</a:t>
            </a:r>
            <a:endParaRPr sz="2800"/>
          </a:p>
        </p:txBody>
      </p:sp>
      <p:sp>
        <p:nvSpPr>
          <p:cNvPr id="257" name="Google Shape;257;p15">
            <a:extLst>
              <a:ext uri="{FF2B5EF4-FFF2-40B4-BE49-F238E27FC236}">
                <a16:creationId xmlns:a16="http://schemas.microsoft.com/office/drawing/2014/main" id="{DBEA2B06-03CA-4D88-363A-CA71436CC90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
        <p:nvSpPr>
          <p:cNvPr id="258" name="Google Shape;258;p15">
            <a:extLst>
              <a:ext uri="{FF2B5EF4-FFF2-40B4-BE49-F238E27FC236}">
                <a16:creationId xmlns:a16="http://schemas.microsoft.com/office/drawing/2014/main" id="{0D84795D-ECCF-D8B7-991E-093B4DA1F00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4" name="Picture 3">
            <a:extLst>
              <a:ext uri="{FF2B5EF4-FFF2-40B4-BE49-F238E27FC236}">
                <a16:creationId xmlns:a16="http://schemas.microsoft.com/office/drawing/2014/main" id="{0EDFF8D1-A99F-DB7A-C6EB-3B3F56524E64}"/>
              </a:ext>
            </a:extLst>
          </p:cNvPr>
          <p:cNvPicPr>
            <a:picLocks noChangeAspect="1"/>
          </p:cNvPicPr>
          <p:nvPr/>
        </p:nvPicPr>
        <p:blipFill>
          <a:blip r:embed="rId3"/>
          <a:stretch>
            <a:fillRect/>
          </a:stretch>
        </p:blipFill>
        <p:spPr>
          <a:xfrm>
            <a:off x="3365294" y="1825625"/>
            <a:ext cx="6201640" cy="5153744"/>
          </a:xfrm>
          <a:prstGeom prst="rect">
            <a:avLst/>
          </a:prstGeom>
        </p:spPr>
      </p:pic>
    </p:spTree>
    <p:extLst>
      <p:ext uri="{BB962C8B-B14F-4D97-AF65-F5344CB8AC3E}">
        <p14:creationId xmlns:p14="http://schemas.microsoft.com/office/powerpoint/2010/main" val="915586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CONCLUSION</a:t>
            </a:r>
            <a:endParaRPr sz="2800"/>
          </a:p>
        </p:txBody>
      </p:sp>
      <p:sp>
        <p:nvSpPr>
          <p:cNvPr id="264" name="Google Shape;264;p16"/>
          <p:cNvSpPr txBox="1">
            <a:spLocks noGrp="1"/>
          </p:cNvSpPr>
          <p:nvPr>
            <p:ph type="body" idx="1"/>
          </p:nvPr>
        </p:nvSpPr>
        <p:spPr>
          <a:xfrm>
            <a:off x="838200" y="1385888"/>
            <a:ext cx="10515600" cy="4791075"/>
          </a:xfrm>
          <a:prstGeom prst="rect">
            <a:avLst/>
          </a:prstGeom>
          <a:noFill/>
          <a:ln>
            <a:noFill/>
          </a:ln>
        </p:spPr>
        <p:txBody>
          <a:bodyPr spcFirstLastPara="1" wrap="square" lIns="91425" tIns="45700" rIns="91425" bIns="45700" anchor="t" anchorCtr="0">
            <a:normAutofit fontScale="92500" lnSpcReduction="20000"/>
          </a:bodyPr>
          <a:lstStyle/>
          <a:p>
            <a:pPr marL="463550" lvl="0" indent="-285750" algn="just" rtl="0">
              <a:lnSpc>
                <a:spcPct val="150000"/>
              </a:lnSpc>
              <a:spcBef>
                <a:spcPts val="0"/>
              </a:spcBef>
              <a:spcAft>
                <a:spcPts val="0"/>
              </a:spcAft>
              <a:buClr>
                <a:schemeClr val="dk1"/>
              </a:buClr>
              <a:buSzPts val="28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tumor segmentation system using GLCM and Sobel operator is a promising approach for tumor segmentation in clinical practice. It is robust to noise and variations in the gradient magnitude and it can accurately segment tumors with complex and irregular boundaries. </a:t>
            </a:r>
          </a:p>
          <a:p>
            <a:pPr marL="463550" lvl="0" indent="-285750" algn="just" rtl="0">
              <a:lnSpc>
                <a:spcPct val="150000"/>
              </a:lnSpc>
              <a:spcBef>
                <a:spcPts val="0"/>
              </a:spcBef>
              <a:spcAft>
                <a:spcPts val="0"/>
              </a:spcAft>
              <a:buClr>
                <a:schemeClr val="dk1"/>
              </a:buClr>
              <a:buSzPts val="28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has been shown to achieve good results on a variety of MR image datasets. It has the potential to improve the accuracy and efficiency of tumor segmentation in clinical settings. </a:t>
            </a:r>
          </a:p>
          <a:p>
            <a:pPr marL="463550" lvl="0" indent="-285750" algn="just" rtl="0">
              <a:lnSpc>
                <a:spcPct val="150000"/>
              </a:lnSpc>
              <a:spcBef>
                <a:spcPts val="0"/>
              </a:spcBef>
              <a:spcAft>
                <a:spcPts val="0"/>
              </a:spcAft>
              <a:buClr>
                <a:schemeClr val="dk1"/>
              </a:buClr>
              <a:buSzPts val="28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proposed system can be further improved by incorporating additional features, such as deep learning, to further improve the accuracy and robustness of the segmentation results. The system can also be adapted to segment tumors in other modalities, such as CT and ultrasound. </a:t>
            </a:r>
          </a:p>
          <a:p>
            <a:pPr marL="463550" lvl="0" indent="-285750" algn="just" rtl="0">
              <a:lnSpc>
                <a:spcPct val="150000"/>
              </a:lnSpc>
              <a:spcBef>
                <a:spcPts val="0"/>
              </a:spcBef>
              <a:spcAft>
                <a:spcPts val="0"/>
              </a:spcAft>
              <a:buClr>
                <a:schemeClr val="dk1"/>
              </a:buClr>
              <a:buSzPts val="28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use super pixel-based appearance models to reduce computational cost, improve spatial smoothness, and solve the data sampling problem for training GLCM classifiers on brain tumor segmentation. Also, we develop an affinity model that penalizes spatial discontinuity based on model-level constraints learned from the training data. Finally, our structural denoising based on the symmetry axis and continuity characteristics is shown to remove the false positive regions effectively. </a:t>
            </a:r>
          </a:p>
        </p:txBody>
      </p:sp>
      <p:sp>
        <p:nvSpPr>
          <p:cNvPr id="265" name="Google Shape;265;p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2800"/>
              <a:buFont typeface="Times New Roman"/>
              <a:buNone/>
            </a:pPr>
            <a:r>
              <a:rPr lang="en-US" sz="2800" b="1">
                <a:solidFill>
                  <a:srgbClr val="00B0F0"/>
                </a:solidFill>
                <a:latin typeface="Times New Roman"/>
                <a:ea typeface="Times New Roman"/>
                <a:cs typeface="Times New Roman"/>
                <a:sym typeface="Times New Roman"/>
              </a:rPr>
              <a:t>FUTURE ENHANCEMENT</a:t>
            </a:r>
            <a:endParaRPr sz="2800"/>
          </a:p>
        </p:txBody>
      </p:sp>
      <p:sp>
        <p:nvSpPr>
          <p:cNvPr id="271" name="Google Shape;271;p17"/>
          <p:cNvSpPr txBox="1">
            <a:spLocks noGrp="1"/>
          </p:cNvSpPr>
          <p:nvPr>
            <p:ph type="body" idx="1"/>
          </p:nvPr>
        </p:nvSpPr>
        <p:spPr>
          <a:xfrm>
            <a:off x="838200" y="1471613"/>
            <a:ext cx="10515600" cy="4705350"/>
          </a:xfrm>
          <a:prstGeom prst="rect">
            <a:avLst/>
          </a:prstGeom>
          <a:noFill/>
          <a:ln>
            <a:noFill/>
          </a:ln>
        </p:spPr>
        <p:txBody>
          <a:bodyPr spcFirstLastPara="1" wrap="square" lIns="91425" tIns="45700" rIns="91425" bIns="45700" anchor="t" anchorCtr="0">
            <a:normAutofit fontScale="55000" lnSpcReduction="20000"/>
          </a:bodyPr>
          <a:lstStyle/>
          <a:p>
            <a:pPr marL="635000" lvl="0" indent="-457200" algn="just" rtl="0">
              <a:lnSpc>
                <a:spcPct val="170000"/>
              </a:lnSpc>
              <a:spcBef>
                <a:spcPts val="0"/>
              </a:spcBef>
              <a:spcAft>
                <a:spcPts val="0"/>
              </a:spcAft>
              <a:buClr>
                <a:schemeClr val="dk1"/>
              </a:buClr>
              <a:buSzPts val="28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future, the tumor segmentation system can be enhanced by incorporating advanced deep learning techniques, such as convolutional neural networks (CNNs), to automatically learn and refine features, which could significantly improve the accuracy and robustness of segmentation, particularly for tumors with subtle or complex features. </a:t>
            </a:r>
          </a:p>
          <a:p>
            <a:pPr marL="635000" lvl="0" indent="-457200" algn="just" rtl="0">
              <a:lnSpc>
                <a:spcPct val="170000"/>
              </a:lnSpc>
              <a:spcBef>
                <a:spcPts val="0"/>
              </a:spcBef>
              <a:spcAft>
                <a:spcPts val="0"/>
              </a:spcAft>
              <a:buClr>
                <a:schemeClr val="dk1"/>
              </a:buClr>
              <a:buSzPts val="28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Additionally, expanding the system's applicability to other imaging modalities, such as computed tomography (CT) and ultrasound, would allow for broader use in clinical practice.</a:t>
            </a:r>
          </a:p>
          <a:p>
            <a:pPr marL="635000" lvl="0" indent="-457200" algn="just" rtl="0">
              <a:lnSpc>
                <a:spcPct val="170000"/>
              </a:lnSpc>
              <a:spcBef>
                <a:spcPts val="0"/>
              </a:spcBef>
              <a:spcAft>
                <a:spcPts val="0"/>
              </a:spcAft>
              <a:buClr>
                <a:schemeClr val="dk1"/>
              </a:buClr>
              <a:buSzPts val="28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Further optimization of the system is possible by exploring more advanced algorithms for feature extraction, such as multi-scale and multi-modal methods, to capture finer details in the images. </a:t>
            </a:r>
          </a:p>
          <a:p>
            <a:pPr marL="635000" lvl="0" indent="-457200" algn="just" rtl="0">
              <a:lnSpc>
                <a:spcPct val="170000"/>
              </a:lnSpc>
              <a:spcBef>
                <a:spcPts val="0"/>
              </a:spcBef>
              <a:spcAft>
                <a:spcPts val="0"/>
              </a:spcAft>
              <a:buClr>
                <a:schemeClr val="dk1"/>
              </a:buClr>
              <a:buSzPts val="28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Moreover, integrating real-time segmentation capabilities could improve the system's usability in clinical workflows, enabling faster decision-making. Another avenue for future work includes the development of a more advanced denoising mechanism, perhaps leveraging generative models, to handle challenging image artifacts and improve segmentation accuracy in low-quality scans. </a:t>
            </a:r>
          </a:p>
          <a:p>
            <a:pPr marL="635000" lvl="0" indent="-457200" algn="just" rtl="0">
              <a:lnSpc>
                <a:spcPct val="170000"/>
              </a:lnSpc>
              <a:spcBef>
                <a:spcPts val="0"/>
              </a:spcBef>
              <a:spcAft>
                <a:spcPts val="0"/>
              </a:spcAft>
              <a:buClr>
                <a:schemeClr val="dk1"/>
              </a:buClr>
              <a:buSzPts val="28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Finally, exploring the potential for personalized tumor segmentation by tailoring the model to individual patient data and integrating it with other diagnostic tools could significantly enhance treatment planning and patient outcomes.</a:t>
            </a:r>
            <a:endParaRPr dirty="0">
              <a:latin typeface="Times New Roman" panose="02020603050405020304" pitchFamily="18" charset="0"/>
              <a:cs typeface="Times New Roman" panose="02020603050405020304" pitchFamily="18" charset="0"/>
            </a:endParaRPr>
          </a:p>
        </p:txBody>
      </p:sp>
      <p:sp>
        <p:nvSpPr>
          <p:cNvPr id="272" name="Google Shape;272;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8"/>
          <p:cNvSpPr txBox="1">
            <a:spLocks noGrp="1"/>
          </p:cNvSpPr>
          <p:nvPr>
            <p:ph type="title"/>
          </p:nvPr>
        </p:nvSpPr>
        <p:spPr>
          <a:xfrm>
            <a:off x="838200" y="279875"/>
            <a:ext cx="10515600" cy="809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4400"/>
              <a:buFont typeface="Times New Roman"/>
              <a:buNone/>
            </a:pPr>
            <a:r>
              <a:rPr lang="en-US" sz="4400" b="1" dirty="0">
                <a:solidFill>
                  <a:srgbClr val="00B0F0"/>
                </a:solidFill>
                <a:latin typeface="Times New Roman"/>
                <a:ea typeface="Times New Roman"/>
                <a:cs typeface="Times New Roman"/>
                <a:sym typeface="Times New Roman"/>
              </a:rPr>
              <a:t>REFERENCES</a:t>
            </a:r>
            <a:endParaRPr dirty="0"/>
          </a:p>
        </p:txBody>
      </p:sp>
      <p:sp>
        <p:nvSpPr>
          <p:cNvPr id="278" name="Google Shape;278;p18"/>
          <p:cNvSpPr txBox="1">
            <a:spLocks noGrp="1"/>
          </p:cNvSpPr>
          <p:nvPr>
            <p:ph type="body" idx="1"/>
          </p:nvPr>
        </p:nvSpPr>
        <p:spPr>
          <a:xfrm>
            <a:off x="311410" y="1049850"/>
            <a:ext cx="11042400" cy="5306500"/>
          </a:xfrm>
          <a:prstGeom prst="rect">
            <a:avLst/>
          </a:prstGeom>
          <a:noFill/>
          <a:ln>
            <a:noFill/>
          </a:ln>
        </p:spPr>
        <p:txBody>
          <a:bodyPr spcFirstLastPara="1" wrap="square" lIns="91425" tIns="45700" rIns="91425" bIns="45700" anchor="t" anchorCtr="0">
            <a:noAutofit/>
          </a:bodyPr>
          <a:lstStyle/>
          <a:p>
            <a:pPr marL="119062" lvl="0" indent="0" algn="just" rtl="0">
              <a:lnSpc>
                <a:spcPct val="70000"/>
              </a:lnSpc>
              <a:spcBef>
                <a:spcPts val="1000"/>
              </a:spcBef>
              <a:spcAft>
                <a:spcPts val="0"/>
              </a:spcAft>
              <a:buClr>
                <a:schemeClr val="dk1"/>
              </a:buClr>
              <a:buSzPts val="1330"/>
              <a:buFont typeface="Noto Sans Symbols"/>
              <a:buNone/>
            </a:pPr>
            <a:endParaRPr sz="1829" dirty="0">
              <a:latin typeface="Times New Roman"/>
              <a:ea typeface="Times New Roman"/>
              <a:cs typeface="Times New Roman"/>
              <a:sym typeface="Times New Roman"/>
            </a:endParaRPr>
          </a:p>
          <a:p>
            <a:pPr marL="461962" lvl="0" algn="just" rtl="0">
              <a:lnSpc>
                <a:spcPct val="150000"/>
              </a:lnSpc>
              <a:spcBef>
                <a:spcPts val="1000"/>
              </a:spcBef>
              <a:spcAft>
                <a:spcPts val="0"/>
              </a:spcAft>
              <a:buClr>
                <a:schemeClr val="dk1"/>
              </a:buClr>
              <a:buSzPts val="1330"/>
              <a:buFont typeface="Arial" panose="020B0604020202020204" pitchFamily="34" charset="0"/>
              <a:buChar char="•"/>
            </a:pPr>
            <a:r>
              <a:rPr lang="en-US" sz="1829" dirty="0">
                <a:latin typeface="Times New Roman"/>
                <a:ea typeface="Times New Roman"/>
                <a:cs typeface="Times New Roman"/>
                <a:sym typeface="Times New Roman"/>
              </a:rPr>
              <a:t>Liu J, Udupa JK, </a:t>
            </a:r>
            <a:r>
              <a:rPr lang="en-US" sz="1829" dirty="0" err="1">
                <a:latin typeface="Times New Roman"/>
                <a:ea typeface="Times New Roman"/>
                <a:cs typeface="Times New Roman"/>
                <a:sym typeface="Times New Roman"/>
              </a:rPr>
              <a:t>Odhner</a:t>
            </a:r>
            <a:r>
              <a:rPr lang="en-US" sz="1829" dirty="0">
                <a:latin typeface="Times New Roman"/>
                <a:ea typeface="Times New Roman"/>
                <a:cs typeface="Times New Roman"/>
                <a:sym typeface="Times New Roman"/>
              </a:rPr>
              <a:t> D, Hackney D, Moonis G (2020) A system for brain tumor volume estimation via MR imaging and fuzzy connectedness. </a:t>
            </a:r>
            <a:r>
              <a:rPr lang="en-US" sz="1829" dirty="0" err="1">
                <a:latin typeface="Times New Roman"/>
                <a:ea typeface="Times New Roman"/>
                <a:cs typeface="Times New Roman"/>
                <a:sym typeface="Times New Roman"/>
              </a:rPr>
              <a:t>Comput</a:t>
            </a:r>
            <a:r>
              <a:rPr lang="en-US" sz="1829" dirty="0">
                <a:latin typeface="Times New Roman"/>
                <a:ea typeface="Times New Roman"/>
                <a:cs typeface="Times New Roman"/>
                <a:sym typeface="Times New Roman"/>
              </a:rPr>
              <a:t> Med Imaging Graphics 29(1):21–34</a:t>
            </a:r>
          </a:p>
          <a:p>
            <a:pPr marL="461962" lvl="0" algn="just" rtl="0">
              <a:lnSpc>
                <a:spcPct val="150000"/>
              </a:lnSpc>
              <a:spcBef>
                <a:spcPts val="1000"/>
              </a:spcBef>
              <a:spcAft>
                <a:spcPts val="0"/>
              </a:spcAft>
              <a:buClr>
                <a:schemeClr val="dk1"/>
              </a:buClr>
              <a:buSzPts val="1330"/>
              <a:buFont typeface="Arial" panose="020B0604020202020204" pitchFamily="34" charset="0"/>
              <a:buChar char="•"/>
            </a:pPr>
            <a:r>
              <a:rPr lang="en-US" sz="1829" dirty="0">
                <a:latin typeface="Times New Roman"/>
                <a:ea typeface="Times New Roman"/>
                <a:cs typeface="Times New Roman"/>
                <a:sym typeface="Times New Roman"/>
              </a:rPr>
              <a:t>Sled JG, </a:t>
            </a:r>
            <a:r>
              <a:rPr lang="en-US" sz="1829" dirty="0" err="1">
                <a:latin typeface="Times New Roman"/>
                <a:ea typeface="Times New Roman"/>
                <a:cs typeface="Times New Roman"/>
                <a:sym typeface="Times New Roman"/>
              </a:rPr>
              <a:t>Zijdenbos</a:t>
            </a:r>
            <a:r>
              <a:rPr lang="en-US" sz="1829" dirty="0">
                <a:latin typeface="Times New Roman"/>
                <a:ea typeface="Times New Roman"/>
                <a:cs typeface="Times New Roman"/>
                <a:sym typeface="Times New Roman"/>
              </a:rPr>
              <a:t> AP, Evans AC (2021) A nonparametric method for automatic correction of intensity nonuniformity in MRI data. IEEE Trans Med Imaging 17(1):87–97</a:t>
            </a:r>
          </a:p>
          <a:p>
            <a:pPr marL="461962" lvl="0" algn="just" rtl="0">
              <a:lnSpc>
                <a:spcPct val="150000"/>
              </a:lnSpc>
              <a:spcBef>
                <a:spcPts val="1000"/>
              </a:spcBef>
              <a:spcAft>
                <a:spcPts val="0"/>
              </a:spcAft>
              <a:buClr>
                <a:schemeClr val="dk1"/>
              </a:buClr>
              <a:buSzPts val="1330"/>
              <a:buFont typeface="Arial" panose="020B0604020202020204" pitchFamily="34" charset="0"/>
              <a:buChar char="•"/>
            </a:pPr>
            <a:r>
              <a:rPr lang="en-US" sz="1829" dirty="0" err="1">
                <a:latin typeface="Times New Roman"/>
                <a:ea typeface="Times New Roman"/>
                <a:cs typeface="Times New Roman"/>
                <a:sym typeface="Times New Roman"/>
              </a:rPr>
              <a:t>Belaroussi</a:t>
            </a:r>
            <a:r>
              <a:rPr lang="en-US" sz="1829" dirty="0">
                <a:latin typeface="Times New Roman"/>
                <a:ea typeface="Times New Roman"/>
                <a:cs typeface="Times New Roman"/>
                <a:sym typeface="Times New Roman"/>
              </a:rPr>
              <a:t> B, Milles J, Carme S, Zhu YM, Benoit-</a:t>
            </a:r>
            <a:r>
              <a:rPr lang="en-US" sz="1829" dirty="0" err="1">
                <a:latin typeface="Times New Roman"/>
                <a:ea typeface="Times New Roman"/>
                <a:cs typeface="Times New Roman"/>
                <a:sym typeface="Times New Roman"/>
              </a:rPr>
              <a:t>Cattin</a:t>
            </a:r>
            <a:r>
              <a:rPr lang="en-US" sz="1829" dirty="0">
                <a:latin typeface="Times New Roman"/>
                <a:ea typeface="Times New Roman"/>
                <a:cs typeface="Times New Roman"/>
                <a:sym typeface="Times New Roman"/>
              </a:rPr>
              <a:t> H (2019) Intensity non-uniformity correction in MRI: existing methods and their validation. Med Image Anal 10(2):234</a:t>
            </a:r>
          </a:p>
          <a:p>
            <a:pPr marL="461962" lvl="0" algn="just" rtl="0">
              <a:lnSpc>
                <a:spcPct val="150000"/>
              </a:lnSpc>
              <a:spcBef>
                <a:spcPts val="1000"/>
              </a:spcBef>
              <a:spcAft>
                <a:spcPts val="0"/>
              </a:spcAft>
              <a:buClr>
                <a:schemeClr val="dk1"/>
              </a:buClr>
              <a:buSzPts val="1330"/>
              <a:buFont typeface="Arial" panose="020B0604020202020204" pitchFamily="34" charset="0"/>
              <a:buChar char="•"/>
            </a:pPr>
            <a:r>
              <a:rPr lang="en-US" sz="1829" dirty="0" err="1">
                <a:latin typeface="Times New Roman"/>
                <a:ea typeface="Times New Roman"/>
                <a:cs typeface="Times New Roman"/>
                <a:sym typeface="Times New Roman"/>
              </a:rPr>
              <a:t>Madabhushi</a:t>
            </a:r>
            <a:r>
              <a:rPr lang="en-US" sz="1829" dirty="0">
                <a:latin typeface="Times New Roman"/>
                <a:ea typeface="Times New Roman"/>
                <a:cs typeface="Times New Roman"/>
                <a:sym typeface="Times New Roman"/>
              </a:rPr>
              <a:t> A, Udupa JK (2020) Interplay between intensity standardization and inhomogeneity correction </a:t>
            </a:r>
            <a:r>
              <a:rPr lang="en-US" sz="1829" dirty="0" err="1">
                <a:latin typeface="Times New Roman"/>
                <a:ea typeface="Times New Roman"/>
                <a:cs typeface="Times New Roman"/>
                <a:sym typeface="Times New Roman"/>
              </a:rPr>
              <a:t>inMRimage</a:t>
            </a:r>
            <a:r>
              <a:rPr lang="en-US" sz="1829" dirty="0">
                <a:latin typeface="Times New Roman"/>
                <a:ea typeface="Times New Roman"/>
                <a:cs typeface="Times New Roman"/>
                <a:sym typeface="Times New Roman"/>
              </a:rPr>
              <a:t> processing. IEEE Trans Med Imaging 24(5):561–576</a:t>
            </a:r>
          </a:p>
          <a:p>
            <a:pPr marL="461962" lvl="0" algn="just" rtl="0">
              <a:lnSpc>
                <a:spcPct val="150000"/>
              </a:lnSpc>
              <a:spcBef>
                <a:spcPts val="1000"/>
              </a:spcBef>
              <a:spcAft>
                <a:spcPts val="0"/>
              </a:spcAft>
              <a:buClr>
                <a:schemeClr val="dk1"/>
              </a:buClr>
              <a:buSzPts val="1330"/>
              <a:buFont typeface="Arial" panose="020B0604020202020204" pitchFamily="34" charset="0"/>
              <a:buChar char="•"/>
            </a:pPr>
            <a:r>
              <a:rPr lang="en-US" sz="1829" dirty="0" err="1">
                <a:latin typeface="Times New Roman"/>
                <a:ea typeface="Times New Roman"/>
                <a:cs typeface="Times New Roman"/>
                <a:sym typeface="Times New Roman"/>
              </a:rPr>
              <a:t>Prastawa</a:t>
            </a:r>
            <a:r>
              <a:rPr lang="en-US" sz="1829" dirty="0">
                <a:latin typeface="Times New Roman"/>
                <a:ea typeface="Times New Roman"/>
                <a:cs typeface="Times New Roman"/>
                <a:sym typeface="Times New Roman"/>
              </a:rPr>
              <a:t> M, Bullitt E, Ho S, </a:t>
            </a:r>
            <a:r>
              <a:rPr lang="en-US" sz="1829" dirty="0" err="1">
                <a:latin typeface="Times New Roman"/>
                <a:ea typeface="Times New Roman"/>
                <a:cs typeface="Times New Roman"/>
                <a:sym typeface="Times New Roman"/>
              </a:rPr>
              <a:t>Gerig</a:t>
            </a:r>
            <a:r>
              <a:rPr lang="en-US" sz="1829" dirty="0">
                <a:latin typeface="Times New Roman"/>
                <a:ea typeface="Times New Roman"/>
                <a:cs typeface="Times New Roman"/>
                <a:sym typeface="Times New Roman"/>
              </a:rPr>
              <a:t> G (2021) A brain tumor segmentation framework based on outlier detection. Med Image Anal 8(3):275–283</a:t>
            </a:r>
          </a:p>
          <a:p>
            <a:pPr marL="119062" lvl="0" indent="0" algn="just" rtl="0">
              <a:lnSpc>
                <a:spcPct val="70000"/>
              </a:lnSpc>
              <a:spcBef>
                <a:spcPts val="1000"/>
              </a:spcBef>
              <a:spcAft>
                <a:spcPts val="0"/>
              </a:spcAft>
              <a:buClr>
                <a:schemeClr val="dk1"/>
              </a:buClr>
              <a:buSzPts val="1330"/>
              <a:buFont typeface="Noto Sans Symbols"/>
              <a:buNone/>
            </a:pPr>
            <a:endParaRPr lang="en-US" sz="1829" dirty="0">
              <a:latin typeface="Times New Roman"/>
              <a:ea typeface="Times New Roman"/>
              <a:cs typeface="Times New Roman"/>
              <a:sym typeface="Times New Roman"/>
            </a:endParaRPr>
          </a:p>
        </p:txBody>
      </p:sp>
      <p:sp>
        <p:nvSpPr>
          <p:cNvPr id="279" name="Google Shape;2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0"/>
          <p:cNvSpPr txBox="1">
            <a:spLocks noGrp="1"/>
          </p:cNvSpPr>
          <p:nvPr>
            <p:ph type="sldNum" idx="12"/>
          </p:nvPr>
        </p:nvSpPr>
        <p:spPr>
          <a:xfrm>
            <a:off x="8610600" y="6259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292" name="Google Shape;292;p20" descr="15 Inspirational Bible Verses to Help You Say Thank You | One Thing Alone"/>
          <p:cNvPicPr preferRelativeResize="0"/>
          <p:nvPr/>
        </p:nvPicPr>
        <p:blipFill rotWithShape="1">
          <a:blip r:embed="rId3">
            <a:alphaModFix/>
          </a:blip>
          <a:srcRect/>
          <a:stretch/>
        </p:blipFill>
        <p:spPr>
          <a:xfrm>
            <a:off x="2428667" y="1758256"/>
            <a:ext cx="7334666" cy="285237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2519</Words>
  <Application>Microsoft Office PowerPoint</Application>
  <PresentationFormat>Widescreen</PresentationFormat>
  <Paragraphs>192</Paragraphs>
  <Slides>26</Slides>
  <Notes>25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Arial</vt:lpstr>
      <vt:lpstr>Calibri</vt:lpstr>
      <vt:lpstr>Noto Sans Symbols</vt:lpstr>
      <vt:lpstr>Times New Roman</vt:lpstr>
      <vt:lpstr>Office Theme</vt:lpstr>
      <vt:lpstr>1_Office Theme</vt:lpstr>
      <vt:lpstr>PowerPoint Presentation</vt:lpstr>
      <vt:lpstr>ENHANCED BRAIN TUMOR SEGMENTATION USING CONDITIONAL RANDOM FIELDS AND BAT ALGORITHM OPTIMIZATION IN MULTIMODAL MRI</vt:lpstr>
      <vt:lpstr>PowerPoint Presentation</vt:lpstr>
      <vt:lpstr>PowerPoint Presentation</vt:lpstr>
      <vt:lpstr>EXISTING SYSTEM  </vt:lpstr>
      <vt:lpstr>DISADVANTAGES OF EXISTING SYSTEM </vt:lpstr>
      <vt:lpstr>PROPOSED SYSTEM </vt:lpstr>
      <vt:lpstr>ADVANTAGES OF PROPOSED SYSTEM</vt:lpstr>
      <vt:lpstr>PowerPoint Presentation</vt:lpstr>
      <vt:lpstr>PowerPoint Presentation</vt:lpstr>
      <vt:lpstr>PowerPoint Presentation</vt:lpstr>
      <vt:lpstr>SYSTEM REQUIREMENTS  </vt:lpstr>
      <vt:lpstr>SYSTEM ARCHITECTURE</vt:lpstr>
      <vt:lpstr>DATA FLOW DIAGRAM</vt:lpstr>
      <vt:lpstr>MODULES</vt:lpstr>
      <vt:lpstr>MODULES</vt:lpstr>
      <vt:lpstr>MODULE DESCRIPTION</vt:lpstr>
      <vt:lpstr>SCREENSHOT</vt:lpstr>
      <vt:lpstr>SCREENSHOT</vt:lpstr>
      <vt:lpstr>SCREENSHOT</vt:lpstr>
      <vt:lpstr>SCREENSHOT</vt:lpstr>
      <vt:lpstr>SCREENSHOT</vt:lpstr>
      <vt:lpstr>CONCLUSION</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Janani R</dc:creator>
  <cp:lastModifiedBy>Almitha Dency</cp:lastModifiedBy>
  <cp:revision>8</cp:revision>
  <dcterms:created xsi:type="dcterms:W3CDTF">2022-07-29T05:28:32Z</dcterms:created>
  <dcterms:modified xsi:type="dcterms:W3CDTF">2025-04-04T05:53:16Z</dcterms:modified>
</cp:coreProperties>
</file>